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6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7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8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9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4-1 문제 정의" id="{4771a508-8797-810e-56ca-59cc43a46fa7}">
          <p14:sldIdLst>
            <p14:sldId id="256"/>
            <p14:sldId id="257"/>
          </p14:sldIdLst>
        </p14:section>
        <p14:section name="4-2 데이터 분석" id="{9bc184d4-46ca-6e84-6b94-73cce2fb5403}">
          <p14:sldIdLst>
            <p14:sldId id="258"/>
            <p14:sldId id="259"/>
          </p14:sldIdLst>
        </p14:section>
        <p14:section name="4-3 규정 준수 설계" id="{e2cf135e-13b7-41ad-3bf2-1ba68526c2e1}">
          <p14:sldIdLst>
            <p14:sldId id="260"/>
          </p14:sldIdLst>
        </p14:section>
        <p14:section name="4-4 실험 로드맵" id="{d371bf46-5e65-5595-230b-b8e825f10418}">
          <p14:sldIdLst>
            <p14:sldId id="261"/>
          </p14:sldIdLst>
        </p14:section>
        <p14:section name="4-5 단계별 실험" id="{28db37aa-b5ad-65c8-16e2-f7f2ac3332d6}">
          <p14:sldIdLst>
            <p14:sldId id="262"/>
            <p14:sldId id="263"/>
            <p14:sldId id="264"/>
          </p14:sldIdLst>
        </p14:section>
        <p14:section name="4-6 앙상블" id="{08c41e88-51ca-e406-5dc0-14d6775e6f2f}">
          <p14:sldIdLst>
            <p14:sldId id="265"/>
            <p14:sldId id="266"/>
          </p14:sldIdLst>
        </p14:section>
        <p14:section name="4-7 오류 분석" id="{d19b5729-5540-f524-16d2-9f498dfc5a03}">
          <p14:sldIdLst>
            <p14:sldId id="267"/>
            <p14:sldId id="268"/>
            <p14:sldId id="269"/>
          </p14:sldIdLst>
        </p14:section>
        <p14:section name="4-8 최종 성능 및 계산 효율성" id="{d47e7416-a10e-bea4-fe4a-a406e593b421}">
          <p14:sldIdLst>
            <p14:sldId id="270"/>
            <p14:sldId id="271"/>
            <p14:sldId id="272"/>
          </p14:sldIdLst>
        </p14:section>
        <p14:section name="4-9 개선 방향" id="{18f729d3-851e-9b41-5f07-58b4d8e68aaa}">
          <p14:sldIdLst>
            <p14:sldId id="273"/>
          </p14:sldIdLst>
        </p14:section>
        <p14:section name="06 사회 안전 시사점" id="{f7fe941a-616e-81f1-3866-b03b1e8db471}">
          <p14:sldIdLst>
            <p14:sldId id="274"/>
            <p14:sldId id="275"/>
          </p14:sldIdLst>
        </p14:section>
        <p14:section name="07 한계 및 향후 과제" id="{dda69372-28b0-9d22-004a-04702b5f407c}">
          <p14:sldIdLst>
            <p14:sldId id="276"/>
            <p14:sldId id="277"/>
          </p14:sldIdLst>
        </p14:section>
        <p14:section name="부록" id="{0dc73779-c616-b8d6-54f6-d3aaa114948b}">
          <p14:sldIdLst>
            <p14:sldId id="278"/>
            <p14:sldId id="279"/>
            <p14:sldId id="280"/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양성 비율(%)</c:v>
                </c:pt>
              </c:strCache>
            </c:strRef>
          </c:tx>
          <c:spPr>
            <a:solidFill>
              <a:srgbClr val="A9BFE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28489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9BFE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BFE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9BFE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9BFE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9BFE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9BFE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A9BFE2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8489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84890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복통</c:v>
                  </c:pt>
                  <c:pt idx="1">
                    <c:v>어지러움</c:v>
                  </c:pt>
                  <c:pt idx="2">
                    <c:v>전신쇠약</c:v>
                  </c:pt>
                  <c:pt idx="3">
                    <c:v>고열</c:v>
                  </c:pt>
                  <c:pt idx="4">
                    <c:v>구토</c:v>
                  </c:pt>
                  <c:pt idx="5">
                    <c:v>호흡곤란</c:v>
                  </c:pt>
                  <c:pt idx="6">
                    <c:v>열상</c:v>
                  </c:pt>
                  <c:pt idx="7">
                    <c:v>오심</c:v>
                  </c:pt>
                  <c:pt idx="8">
                    <c:v>두통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23.2</c:v>
                </c:pt>
                <c:pt idx="1">
                  <c:v>21.7</c:v>
                </c:pt>
                <c:pt idx="2">
                  <c:v>18.2</c:v>
                </c:pt>
                <c:pt idx="3">
                  <c:v>17.8</c:v>
                </c:pt>
                <c:pt idx="4">
                  <c:v>15.3</c:v>
                </c:pt>
                <c:pt idx="5">
                  <c:v>13.4</c:v>
                </c:pt>
                <c:pt idx="6">
                  <c:v>11.9</c:v>
                </c:pt>
                <c:pt idx="7">
                  <c:v>11.4</c:v>
                </c:pt>
                <c:pt idx="8">
                  <c:v>9.9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100" u="none">
                  <a:solidFill>
                    <a:srgbClr val="28489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비율(%)</c:v>
                </c:pt>
              </c:strCache>
            </c:strRef>
          </c:tx>
          <c:spPr>
            <a:solidFill>
              <a:srgbClr val="28489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28489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848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BFE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9BFE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첫 언급 증상</c:v>
                  </c:pt>
                  <c:pt idx="1">
                    <c:v>최다 반복 증상</c:v>
                  </c:pt>
                  <c:pt idx="2">
                    <c:v>마지막 언급 증상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65.6</c:v>
                </c:pt>
                <c:pt idx="1">
                  <c:v>50.4</c:v>
                </c:pt>
                <c:pt idx="2">
                  <c:v>33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100" u="none">
                  <a:solidFill>
                    <a:srgbClr val="28489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macro-F1</c:v>
                </c:pt>
              </c:strCache>
            </c:strRef>
          </c:tx>
          <c:spPr>
            <a:solidFill>
              <a:srgbClr val="A9BFE2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28489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9BFE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848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6E6F5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none</c:v>
                  </c:pt>
                  <c:pt idx="1">
                    <c:v>posw (음성/양성)</c:v>
                  </c:pt>
                  <c:pt idx="2">
                    <c:v>sqrt (참고)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0.6118</c:v>
                </c:pt>
                <c:pt idx="1">
                  <c:v>0.6177</c:v>
                </c:pt>
                <c:pt idx="2">
                  <c:v>0.6405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1" i="0" strike="noStrike" sz="1100" u="none">
                  <a:solidFill>
                    <a:srgbClr val="28489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5"/>
          <c:min val="0.6"/>
        </c:scaling>
        <c:delete val="0"/>
        <c:axPos val="l"/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macro-F1</c:v>
                </c:pt>
              </c:strCache>
            </c:strRef>
          </c:tx>
          <c:spPr>
            <a:solidFill>
              <a:srgbClr val="A9BFE2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8489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9BFE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BFE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F9CC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8489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6E6F5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① KLUE posw 단일 (seed 42)</c:v>
                  </c:pt>
                  <c:pt idx="1">
                    <c:v>② + seed 3개 평균</c:v>
                  </c:pt>
                  <c:pt idx="2">
                    <c:v>③ + KLUE none 3개</c:v>
                  </c:pt>
                  <c:pt idx="3">
                    <c:v>④ KLUE posw + KcELECTRA none (최종)</c:v>
                  </c:pt>
                  <c:pt idx="4">
                    <c:v>⑤ (참고) sqrt 6모델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0.6177</c:v>
                </c:pt>
                <c:pt idx="1">
                  <c:v>0.6246</c:v>
                </c:pt>
                <c:pt idx="2">
                  <c:v>0.6504</c:v>
                </c:pt>
                <c:pt idx="3">
                  <c:v>0.6543</c:v>
                </c:pt>
                <c:pt idx="4">
                  <c:v>0.6558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1" i="0" strike="noStrike" sz="1200" u="none">
                  <a:solidFill>
                    <a:srgbClr val="28489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65"/>
          <c:min val="0.6"/>
        </c:scaling>
        <c:delete val="0"/>
        <c:axPos val="l"/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KLUE-RoBERTa posw (seed 42)</c:v>
                </c:pt>
              </c:strCache>
            </c:strRef>
          </c:tx>
          <c:spPr>
            <a:solidFill>
              <a:srgbClr val="28489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28489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열상</c:v>
                  </c:pt>
                  <c:pt idx="1">
                    <c:v>복통</c:v>
                  </c:pt>
                  <c:pt idx="2">
                    <c:v>고열</c:v>
                  </c:pt>
                  <c:pt idx="3">
                    <c:v>호흡곤란</c:v>
                  </c:pt>
                  <c:pt idx="4">
                    <c:v>어지러움</c:v>
                  </c:pt>
                  <c:pt idx="5">
                    <c:v>구토</c:v>
                  </c:pt>
                  <c:pt idx="6">
                    <c:v>전신쇠약</c:v>
                  </c:pt>
                  <c:pt idx="7">
                    <c:v>두통</c:v>
                  </c:pt>
                  <c:pt idx="8">
                    <c:v>오심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0.841</c:v>
                </c:pt>
                <c:pt idx="1">
                  <c:v>0.772</c:v>
                </c:pt>
                <c:pt idx="2">
                  <c:v>0.646</c:v>
                </c:pt>
                <c:pt idx="3">
                  <c:v>0.648</c:v>
                </c:pt>
                <c:pt idx="4">
                  <c:v>0.649</c:v>
                </c:pt>
                <c:pt idx="5">
                  <c:v>0.567</c:v>
                </c:pt>
                <c:pt idx="6">
                  <c:v>0.58</c:v>
                </c:pt>
                <c:pt idx="7">
                  <c:v>0.474</c:v>
                </c:pt>
                <c:pt idx="8">
                  <c:v>0.382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KcELECTRA none (3-seed 확률 평균)</c:v>
                </c:pt>
              </c:strCache>
            </c:strRef>
          </c:tx>
          <c:spPr>
            <a:solidFill>
              <a:srgbClr val="A9BFE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28489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열상</c:v>
                  </c:pt>
                  <c:pt idx="1">
                    <c:v>복통</c:v>
                  </c:pt>
                  <c:pt idx="2">
                    <c:v>고열</c:v>
                  </c:pt>
                  <c:pt idx="3">
                    <c:v>호흡곤란</c:v>
                  </c:pt>
                  <c:pt idx="4">
                    <c:v>어지러움</c:v>
                  </c:pt>
                  <c:pt idx="5">
                    <c:v>구토</c:v>
                  </c:pt>
                  <c:pt idx="6">
                    <c:v>전신쇠약</c:v>
                  </c:pt>
                  <c:pt idx="7">
                    <c:v>두통</c:v>
                  </c:pt>
                  <c:pt idx="8">
                    <c:v>오심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0.882</c:v>
                </c:pt>
                <c:pt idx="1">
                  <c:v>0.821</c:v>
                </c:pt>
                <c:pt idx="2">
                  <c:v>0.677</c:v>
                </c:pt>
                <c:pt idx="3">
                  <c:v>0.669</c:v>
                </c:pt>
                <c:pt idx="4">
                  <c:v>0.654</c:v>
                </c:pt>
                <c:pt idx="5">
                  <c:v>0.591</c:v>
                </c:pt>
                <c:pt idx="6">
                  <c:v>0.553</c:v>
                </c:pt>
                <c:pt idx="7">
                  <c:v>0.521</c:v>
                </c:pt>
                <c:pt idx="8">
                  <c:v>0.154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000" u="none">
                  <a:solidFill>
                    <a:srgbClr val="28489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333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threshold 0.5 (macro 0.6082)</c:v>
                </c:pt>
              </c:strCache>
            </c:strRef>
          </c:tx>
          <c:spPr>
            <a:solidFill>
              <a:srgbClr val="A9BFE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28489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열상</c:v>
                  </c:pt>
                  <c:pt idx="1">
                    <c:v>복통</c:v>
                  </c:pt>
                  <c:pt idx="2">
                    <c:v>호흡곤란</c:v>
                  </c:pt>
                  <c:pt idx="3">
                    <c:v>고열</c:v>
                  </c:pt>
                  <c:pt idx="4">
                    <c:v>어지러움</c:v>
                  </c:pt>
                  <c:pt idx="5">
                    <c:v>구토</c:v>
                  </c:pt>
                  <c:pt idx="6">
                    <c:v>전신쇠약</c:v>
                  </c:pt>
                  <c:pt idx="7">
                    <c:v>두통</c:v>
                  </c:pt>
                  <c:pt idx="8">
                    <c:v>오심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0.8824</c:v>
                </c:pt>
                <c:pt idx="1">
                  <c:v>0.7894</c:v>
                </c:pt>
                <c:pt idx="2">
                  <c:v>0.6777</c:v>
                </c:pt>
                <c:pt idx="3">
                  <c:v>0.6549</c:v>
                </c:pt>
                <c:pt idx="4">
                  <c:v>0.6475</c:v>
                </c:pt>
                <c:pt idx="5">
                  <c:v>0.5761</c:v>
                </c:pt>
                <c:pt idx="6">
                  <c:v>0.5132</c:v>
                </c:pt>
                <c:pt idx="7">
                  <c:v>0.4697</c:v>
                </c:pt>
                <c:pt idx="8">
                  <c:v>0.2626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라벨별 최적 threshold (macro 0.6268)</c:v>
                </c:pt>
              </c:strCache>
            </c:strRef>
          </c:tx>
          <c:spPr>
            <a:solidFill>
              <a:srgbClr val="28489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28489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열상</c:v>
                  </c:pt>
                  <c:pt idx="1">
                    <c:v>복통</c:v>
                  </c:pt>
                  <c:pt idx="2">
                    <c:v>호흡곤란</c:v>
                  </c:pt>
                  <c:pt idx="3">
                    <c:v>고열</c:v>
                  </c:pt>
                  <c:pt idx="4">
                    <c:v>어지러움</c:v>
                  </c:pt>
                  <c:pt idx="5">
                    <c:v>구토</c:v>
                  </c:pt>
                  <c:pt idx="6">
                    <c:v>전신쇠약</c:v>
                  </c:pt>
                  <c:pt idx="7">
                    <c:v>두통</c:v>
                  </c:pt>
                  <c:pt idx="8">
                    <c:v>오심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0.8829</c:v>
                </c:pt>
                <c:pt idx="1">
                  <c:v>0.7952</c:v>
                </c:pt>
                <c:pt idx="2">
                  <c:v>0.6814</c:v>
                </c:pt>
                <c:pt idx="3">
                  <c:v>0.6566</c:v>
                </c:pt>
                <c:pt idx="4">
                  <c:v>0.6618</c:v>
                </c:pt>
                <c:pt idx="5">
                  <c:v>0.5848</c:v>
                </c:pt>
                <c:pt idx="6">
                  <c:v>0.5273</c:v>
                </c:pt>
                <c:pt idx="7">
                  <c:v>0.4839</c:v>
                </c:pt>
                <c:pt idx="8">
                  <c:v>0.3675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900" u="none">
                  <a:solidFill>
                    <a:srgbClr val="28489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333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KLUE-RoBERTa (Training 전체)</c:v>
                </c:pt>
              </c:strCache>
            </c:strRef>
          </c:tx>
          <c:spPr>
            <a:solidFill>
              <a:srgbClr val="284890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28489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중앙값</c:v>
                  </c:pt>
                  <c:pt idx="1">
                    <c:v>p90</c:v>
                  </c:pt>
                  <c:pt idx="2">
                    <c:v>p95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230</c:v>
                </c:pt>
                <c:pt idx="1">
                  <c:v>397</c:v>
                </c:pt>
                <c:pt idx="2">
                  <c:v>460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KcELECTRA (2,000건 표본)</c:v>
                </c:pt>
              </c:strCache>
            </c:strRef>
          </c:tx>
          <c:spPr>
            <a:solidFill>
              <a:srgbClr val="A9BFE2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28489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중앙값</c:v>
                  </c:pt>
                  <c:pt idx="1">
                    <c:v>p90</c:v>
                  </c:pt>
                  <c:pt idx="2">
                    <c:v>p95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193</c:v>
                </c:pt>
                <c:pt idx="1">
                  <c:v>324</c:v>
                </c:pt>
                <c:pt idx="2">
                  <c:v>382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100" u="none">
                  <a:solidFill>
                    <a:srgbClr val="28489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2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333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KLUE-RoBERTa + posw</c:v>
                </c:pt>
              </c:strCache>
            </c:strRef>
          </c:tx>
          <c:spPr>
            <a:solidFill>
              <a:srgbClr val="284890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28489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seed 42</c:v>
                  </c:pt>
                  <c:pt idx="1">
                    <c:v>seed 123</c:v>
                  </c:pt>
                  <c:pt idx="2">
                    <c:v>seed 2026</c:v>
                  </c:pt>
                  <c:pt idx="3">
                    <c:v>3-seed 확률 평균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0.6177</c:v>
                </c:pt>
                <c:pt idx="1">
                  <c:v>0.614</c:v>
                </c:pt>
                <c:pt idx="2">
                  <c:v>0.6115</c:v>
                </c:pt>
                <c:pt idx="3">
                  <c:v>0.6246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KcELECTRA-v2022 + none</c:v>
                </c:pt>
              </c:strCache>
            </c:strRef>
          </c:tx>
          <c:spPr>
            <a:solidFill>
              <a:srgbClr val="A9BFE2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28489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seed 42</c:v>
                  </c:pt>
                  <c:pt idx="1">
                    <c:v>seed 123</c:v>
                  </c:pt>
                  <c:pt idx="2">
                    <c:v>seed 2026</c:v>
                  </c:pt>
                  <c:pt idx="3">
                    <c:v>3-seed 확률 평균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0.6083</c:v>
                </c:pt>
                <c:pt idx="1">
                  <c:v>0.6082</c:v>
                </c:pt>
                <c:pt idx="2">
                  <c:v>0.6056</c:v>
                </c:pt>
                <c:pt idx="3">
                  <c:v>0.6136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1" i="0" strike="noStrike" sz="1000" u="none">
                  <a:solidFill>
                    <a:srgbClr val="28489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3"/>
          <c:min val="0.6"/>
        </c:scaling>
        <c:delete val="0"/>
        <c:axPos val="l"/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333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Δ macro-F1</c:v>
                </c:pt>
              </c:strCache>
            </c:strRef>
          </c:tx>
          <c:spPr>
            <a:solidFill>
              <a:srgbClr val="7F9CCB"/>
            </a:solidFill>
            <a:effectLst/>
          </c:spPr>
          <c:invertIfNegative val="0"/>
          <c:dLbls>
            <c:numFmt formatCode="+0.0000;-0.00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28489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F9CC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F9CC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F9CC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F9CC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Attention pooling</c:v>
                  </c:pt>
                  <c:pt idx="1">
                    <c:v>max_length 256</c:v>
                  </c:pt>
                  <c:pt idx="2">
                    <c:v>보조 라벨 5개</c:v>
                  </c:pt>
                  <c:pt idx="3">
                    <c:v>빈 예측 top-1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-0.0027</c:v>
                </c:pt>
                <c:pt idx="1">
                  <c:v>-0.004</c:v>
                </c:pt>
                <c:pt idx="2">
                  <c:v>-0.0003</c:v>
                </c:pt>
                <c:pt idx="3">
                  <c:v>0.0012</c:v>
                </c:pt>
              </c:numCache>
            </c:numRef>
          </c:val>
        </c:ser>
        <c:dLbls>
          <c:numFmt formatCode="+0.0000;-0.0000" sourceLinked="0"/>
          <c:txPr>
            <a:bodyPr/>
            <a:lstStyle/>
            <a:p>
              <a:pPr>
                <a:defRPr b="1" i="0" strike="noStrike" sz="1100" u="none">
                  <a:solidFill>
                    <a:srgbClr val="28489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05"/>
          <c:min val="-0.01"/>
        </c:scaling>
        <c:delete val="0"/>
        <c:axPos val="b"/>
        <c:numFmt formatCode="0.0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0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미션 3 개요. 입력=통화 전사 텍스트, 출력=9개 증상 멀티라벨, 지표=macro-F1(라벨별 F1 단순 평균), 모든 클래스 threshold 0.5 고정. 출처: 공식 공지, 팀 공통 설정.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미션 3 전체 흐름 요약이며 이후 슬라이드 순서와 같다. 문제(threshold 0.5 고정·라벨 불균형) → 해결(posw+none 앙상블, 4-5~4-6) → 병목(처치 후 라벨 부여, 4-7) → 결과(0.6543, 효율성 4-8) → 개선 방향(4-9). 멘토링 10/10: 남은 시간은 성능 개선보다 병목의 원인 분석에 집중.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미션3 공통 설정(Training 클래스별 양성 수), 노트북 v0.3/v0.4 출력(통화당 평균 증상 수 1.43). pos_weight=음성/양성은 Training 통계로만 계산하고 Validation은 쓰지 않음. 클래스별 pos_weight 표, 토큰 길이 분포, 256 실험은 부록 A2.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나현 게시글(Training 기준 분석). 단일 라벨 19,560/29,200=67%(Validation 66%). 첫 언급 65.6%/마지막 언급 33.0%/최다 반복 50.4%는 여러 증상이 언급된 단일 라벨 샘플 기준. 동시 출현율은 나현 분석.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공식 채점 공지(threshold 0.5 고정, 오프라인 채점, requirements.txt), 멘토 답변(pos_weight는 Training 통계 기반이면 가능, Validation·OOF 탐색은 불가), 9/19·10/10 멘토링 서기(라벨 수정 불가, threshold 고정, 기타 등을 포함해 학습해 보고 성능으로 판단), 팀 공통 설정. 보조 라벨은 3-seed 0.6424 vs KLUE 0.6427로 이득이 없어 제외(부록 A4). 비교 조건 6가지 상세는 부록 A1.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날짜는 팀 게시글 작성 시점 기준. 1단계 수치는 데이터 정의·평가 기준이 달라 직접 비교하지 않음(부록 A6).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나현(KoBERT 0.5880·KLUE none/posw/sqrt), 규현(KcELECTRA-v2022 none/sqrt), 연서(KoELECTRA-v3, KcELECTRA 구버전 sqrt). 모두 공식 Validation, threshold 0.5, 3-seed 평균(KoBERT는 seed 42 단일). sqrt는 규정 해석 여지로 최종 구성에서 제외한 참고 수치. 발표 멘트: 두 모델의 단일 성능은 seed 편차 이내라 성능 우열로 고르지 않았다. KLUE-RoBERTa는 MLM, KcELECTRA는 ELECTRA(대체 토큰 탐지)로 사전학습 방식이 달라 틀리는 샘플이 덜 겹칠 것이라는 가설로 함께 선택했고, 예측 불일치율 11.3%로 확인했다(사전학습 말뭉치 설명은 공개 모델 카드 기준, 발표 전 확인).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나현(KLUE-RoBERTa seed 42 loss ablation, 클래스별 F1·P/R, 3-seed 평균±std). sqrt는 Training 통계 기반 규칙이며 규정 해석 여지로 최종 구성에서 제외한 참고 수치. 판정선 1/(1+w)는 규현 게시글의 이론(보정된 확률 가정). 발표 멘트: 불균형 라벨에서 일반 loss는 양성 확률이 낮게 나와 0.5를 못 넘는 precision형, 양성 가중 loss는 반대로 recall형이 된다. 어느 한쪽이 정답이 아니라 반대 성향의 두 모델을 평균해 0.5에 맞춘다.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멘토링 10/10: 통계적으로 유의하지 않은 차이는 버리고 표준편차 안이면 그 노력을 들일 필요가 없다고 판단. 기준 σ=0.003(seed 표준편차 0.0015~0.0031의 상한). 계산: 백본 교체 0.6177-0.5880=+0.0297(9.9σ), seed 평균 KLUE posw +0.0102/none +0.0065/KcELECTRA none +0.0062(2.1~3.4σ), 성향 혼합 0.6504-0.6246=+0.0258(8.6σ), 백본 혼합 0.6543-0.6504=+0.0039(1.3σ), 백본 간(none) 0.6108-0.6074=+0.0034(1.1σ), loss(KLUE) 0.6144-0.6108=+0.0036(1.2σ), 구조·후처리 -0.0040~+0.0012(0.1~1.3σ). Welch t-test(n=3): KLUE posw vs none p=0.19, KLUE vs KcELECTRA(none) p=0.11 (슬라이드에는 싣지 않음). 앙상블 점수는 seed가 1개뿐이라 단일 모델 σ로 보수적으로 판단. n=3이라 검정력이 낮아 Δ÷σ를 주 기준으로 사용. 발표 멘트: 동급이면 성능 우열 대신 오류가 얼마나 다른지로 구성을 정했다.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나현(posw P0.546/R0.722, 예측 불일치율 11.3%), 규현(KcELECTRA none P0.726/R0.551), 연서(확률 상관: 같은 백본 0.97~0.98, 다른 백본 0.96). 가중치·threshold는 Validation으로 탐색하지 않음. 발표 멘트: 같은 모델끼리의 평균은 학습 분산만 줄이고, 성향·백본이 다른 모델의 평균은 오류의 방향까지 상쇄한다. 가중치를 Validation으로 고르면 평가셋에 맞추는 것이라 1:1로 고정했다.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나현(KLUE posw seed 42 0.6177, 3-seed 0.6246, posw3+none3 0.6504, posw+none 각 1개 0.6440, 최종 0.6543), 규현(sqrt 6모델 0.6558). 3개 백본 9모델 구성은 0.6569. 가중치 탐색 없음. σ는 seed 표준편차 0.003 기준(Δ÷σ). 발표 멘트: ②는 분산 감소, ③은 반대 방향 오류의 상쇄, ④는 사전학습이 다른 모델의 오류가 덜 겹친 결과이다. ④의 +0.004는 σ 안팎이라 우열을 주장하지 않고 이유(오류 다양성·비슷한 용량)로만 설명한다.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KLUE posw seed 42 클래스별 F1(나현 loss ablation 표), KcELECTRA none 3-seed 확률 평균 클래스별 F1(규현 게시글). 최종 앙상블의 구성요소별 값이며, 단일 seed와 3-seed 평균을 비교하므로 차이가 일부 과대됨.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규현 게시글(학습 표본에서 모델 F1 0.184 vs 정규식 패턴 0.142, 오심 제외 8개 평균 0.671), 나현 게시글(동시 출현율, FP 중 표현 없음 90%, none에서 오심 recall 0.128). 통화 예시는 규현 오류 분석 출력(오심 양성 337건 중 오심 관련 패턴이 없는 통화 308건, 이 중 출력된 3건)에서 2건을 발췌. 지명·개인정보는 제외. 예시 2는 출력이 중간에 끊겨 있어 발췌 구간 기준으로만 설명. 라벨은 처치가 끝난 뒤 부여된다는 멘토 설명(9/19)과 일치하는 정황.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나현 오류 분석(KLUE posw 3 + none 3, 6개 앙상블 기준). 실제 FP 샘플을 읽어 부정·질문이 아닌 실제 호소임을 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흐름의 핵심 슬라이드. 선택 → 이유 → 근거 수치. 수치 출처: KoBERT 0.5880/KLUE posw seed 42 0.6177(나현), 예측 불일치율 11.3%(나현), P/R(none 0.744/0.536, posw 0.546/0.722, 나현 loss ablation), 혼합 +0.026, seed 평균 +0.006~+0.010, attention pooling -0.0027·길이 256 -0.0040(나현, 부록 A1), threshold 최적화 0.6082→0.6268(연서, 참고). 멘토링 10/10: 앙상블은 각 모델의 특성에 따라 선택한 것이므로 그 논리를 설명하고, 효율성은 정성 평가에서 반영된다.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나현 '최종 구성(규정상 안전한 버전)' 게시글. 대안 후보 A(KLUE+KcELECTRA-v2022+KoELECTRA-v3, sqrt, 9멤버)는 0.6569, 1052.8M, 4.0GB. 차이 +0.0026은 seed 편차(약 0.003) 이내.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나현 최종 구성 게시글(715M = KLUE 110.6M×3 + KcELECTRA 127.8M×3, dense라 active=total, batch 32, 167.5초/샘플당 46ms 모델 로딩 포함, 가중치 약 2.9GB, 재현 검증 결과). KcELECTRA 학습 환경은 규현 노트북 출력(Tesla T4, 56~60분/seed). 추론 GPU와 KLUE 학습 GPU는 모두 Tesla T4(Colab 런타임, 팀원 확인).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연서 게시글(KcELECTRA-base 구버전, Training 8:2 내부 분할, threshold 0.1~0.85 탐색: 0.6082 → 0.6268). 10/10 멘토링: threshold 조정이 필요한 이유와 효과를 개선 방향으로 서술. 임베딩 공간 시각화는 9/19 멘토 제안, 데이터 보완은 10/10 멘토링(여러 모델이 비슷하면 데이터를 다시 수집).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미션을 119 접수 보조 흐름으로 연결한 가정이며 실제 도입 근거가 아니라 결과에서 끌어낸 활용 제안임. 수치 출처: 미션 1 Accuracy 98.21%(팀 PPT 미션 1), 미션 2 공식 Validation 92.64%(팀 PPT 미션 2), 미션 3 macro-F1 0.6543(미션 3 최종 구성). 전사(STT)는 대회 범위 밖이고 미션 3은 제공된 전사 텍스트로 평가. 멘토링 10/10: 서비스 방식은 아이디어 회의를 거쳐 PPT에 녹일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카드는 근거(우리 분석) → 현장 적용 방식 순서. ① 7개 라벨(구토·복통·열상·오심·전신쇠약 94~98%, 어지러움 88%, 두통 85%)에서 놓친 증상 중 대화에 표현이 없는 비율(미션 3 오류 분석), 오심 F1 0.15~0.38. ② 0.26→0.37은 연서 님 초기 실험(KcELECTRA 구버전, Training 8:2 분할)의 오심 F1이라 참고 수치이며 최종 모델에는 미적용. 응급에서는 놓침이 헛경보보다 위험하다는 것은 도메인 판단(가정). ③ 비식별화 구간은 전체 발화의 약 12%이고 이 구간의 대원 발화 recall 0% vs 그 외 97.4%(미션 2, 길이 통제). 미션 3 가중치 약 2.9GB, 오프라인 로컬 로딩.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미션 1: 오답 65통화 중 확신에 찬 오답 14통화(prob_F&lt;0.02 또는 &gt;0.98), 청취한 1통화에서 라벨 M인데 여성 목소리. 미션 2: 비식별화 구간 약 12%(Training 12.4%, 공식 Validation 12.35%), 대원 recall 0% vs 97.4%, 제외 시 92.64%→97.07%는 분석용 재계산이며 대회 수치 아님. 미션 3: 7개 라벨 FN 85~98%는 대화에 표현 없음, 오심 정규식 패턴 F1 0.142 vs 모델 0.184(Training 표본). 멘토링 10/10: 가장 큰 문제는 데이터일 가능성이 커서 모델을 어느 정도 설정한 뒤 성능이 비슷하면 데이터를 바꾼다.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우선순위 근거: 멘토링 10/10에서 여러 모델의 성능이 비슷하면 모델이 아니라 데이터를 다시 보라고 조언. 2번은 멘토링 10/10(threshold 조정이 필요한 이유와 효과를 서술), 3번은 9/19 멘토 제안(임베딩 공간 확인). 5번 LLM 활용은 멘토링에서 LLM 중심 경험을 권장한 점을 반영했으며, 환각을 막기 위해 근거 문장을 함께 제시하는 조건을 붙임. 맺음말은 팀 소개의 문구(수치가 왜 나왔는지까지 분석)를 이어받음.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미션3 공통 설정 게시글, 나현 최종 구성 게시글, 규현 KcELECTRA 게시글. 화자 태그 미사용·best epoch macro-F1은 팀 합의. KLUE head: mean pooling + MLP(768→256→9), lr 2e-5(head 1e-3). KcELECTRA: HF 기본 분류 head, lr 3e-5, 5 epoch.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미션3 공통 설정(Training 클래스별 양성 수), 나현(KLUE-RoBERTa 토큰 길이, 256 실험 seed 42), 규현 노트북 v0.3(KcELECTRA 토크나이저, Training 2,000건 표본). pos_weight=음성/양성은 Training 통계에서만 계산.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나현(KLUE posw 3-seed, 앙상블 0.6246), 규현(KcELECTRA none 3-seed, 앙상블 0.6136). 표준편차는 표본 표준편차. KcELECTRA none은 best epoch이 5/5(상한)였고 val_loss는 epoch 2~3 이후 상승(규현 분석).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나현(attention pooling, roberta-large, max_length 256), 연서(보조 라벨 5개 λ0.3, 3-seed), 규현(빈 예측 top-1 후처리). 기준 대비 Δ: attention 0.6378-0.6405, 256 0.6137-0.6177, 보조 라벨 0.6424-0.6427, top-1 +0.0012. seed 표준편차 약 0.003.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나현·규현·연서 게시글. 평균±표준편차는 표본 표준편차(나현 표기와 동일). KoELECTRA-v3, KcELECTRA 구버전은 seed별 값을 받지 못해 평균과 앙상블만 표기.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연서 게시글(KcELECTRA 0.6268은 클래스별 threshold 최적화 후, threshold 0.5에서는 0.6082), 진호 게시글(데이터 62,362건·증상 없음 53%), 9/23 이전 탐색기 게시글.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de42043a-009e-52e0-8b41-f5137f982f17/scratchpad/build/banner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54315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de42043a-009e-52e0-8b41-f5137f982f17/scratchpad/build/banner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54315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문제 정의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통화 대화에서 환자 증상 9개를 동시에 찾는 멀티라벨 분류이고, 점수는 클래스별 F1의 평균이다</a:t>
            </a:r>
            <a:endParaRPr lang="en-US" sz="1600" dirty="0"/>
          </a:p>
        </p:txBody>
      </p:sp>
      <p:sp>
        <p:nvSpPr>
          <p:cNvPr id="6" name="흐름 1"/>
          <p:cNvSpPr txBox="1"/>
          <p:nvPr/>
        </p:nvSpPr>
        <p:spPr>
          <a:xfrm>
            <a:off x="685800" y="196596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통화 전사 텍스트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발화를 시간순으로 이어 붙임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2596896" y="2583180"/>
            <a:ext cx="288036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</p:sp>
      <p:sp>
        <p:nvSpPr>
          <p:cNvPr id="8" name="흐름 2"/>
          <p:cNvSpPr txBox="1"/>
          <p:nvPr/>
        </p:nvSpPr>
        <p:spPr>
          <a:xfrm>
            <a:off x="2921508" y="196596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토크나이저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최대 512토큰으로 입력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832604" y="2583180"/>
            <a:ext cx="288036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</p:sp>
      <p:sp>
        <p:nvSpPr>
          <p:cNvPr id="10" name="흐름 3"/>
          <p:cNvSpPr txBox="1"/>
          <p:nvPr/>
        </p:nvSpPr>
        <p:spPr>
          <a:xfrm>
            <a:off x="5157216" y="196596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사전학습 한국어 모델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KLUE-RoBERTa · KcELECTRA를 fine-tuning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068312" y="2583180"/>
            <a:ext cx="288036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</p:sp>
      <p:sp>
        <p:nvSpPr>
          <p:cNvPr id="12" name="흐름 4"/>
          <p:cNvSpPr txBox="1"/>
          <p:nvPr/>
        </p:nvSpPr>
        <p:spPr>
          <a:xfrm>
            <a:off x="7392924" y="196596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증상별 확률 9개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증상마다 있음 / 없음을 판정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9304020" y="2583180"/>
            <a:ext cx="288036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</p:sp>
      <p:sp>
        <p:nvSpPr>
          <p:cNvPr id="14" name="흐름 5"/>
          <p:cNvSpPr txBox="1"/>
          <p:nvPr/>
        </p:nvSpPr>
        <p:spPr>
          <a:xfrm>
            <a:off x="9628632" y="196596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284890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threshold 0.5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확률 ≥ 0.5인 증상을 출력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336499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예측 대상 증상 9개 (공식 라벨 순서)</a:t>
            </a:r>
            <a:endParaRPr lang="en-US" sz="1400" dirty="0"/>
          </a:p>
        </p:txBody>
      </p:sp>
      <p:sp>
        <p:nvSpPr>
          <p:cNvPr id="16" name="라벨 고열"/>
          <p:cNvSpPr txBox="1"/>
          <p:nvPr/>
        </p:nvSpPr>
        <p:spPr>
          <a:xfrm>
            <a:off x="685800" y="3749040"/>
            <a:ext cx="1104392" cy="384048"/>
          </a:xfrm>
          <a:prstGeom prst="roundRect">
            <a:avLst>
              <a:gd name="adj" fmla="val 47619"/>
            </a:avLst>
          </a:prstGeom>
          <a:solidFill>
            <a:srgbClr val="D6E6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고열</a:t>
            </a:r>
            <a:endParaRPr lang="en-US" sz="1300" dirty="0"/>
          </a:p>
        </p:txBody>
      </p:sp>
      <p:sp>
        <p:nvSpPr>
          <p:cNvPr id="17" name="라벨 구토"/>
          <p:cNvSpPr txBox="1"/>
          <p:nvPr/>
        </p:nvSpPr>
        <p:spPr>
          <a:xfrm>
            <a:off x="1899920" y="3749040"/>
            <a:ext cx="1104392" cy="384048"/>
          </a:xfrm>
          <a:prstGeom prst="roundRect">
            <a:avLst>
              <a:gd name="adj" fmla="val 47619"/>
            </a:avLst>
          </a:prstGeom>
          <a:solidFill>
            <a:srgbClr val="D6E6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구토</a:t>
            </a:r>
            <a:endParaRPr lang="en-US" sz="1300" dirty="0"/>
          </a:p>
        </p:txBody>
      </p:sp>
      <p:sp>
        <p:nvSpPr>
          <p:cNvPr id="18" name="라벨 두통"/>
          <p:cNvSpPr txBox="1"/>
          <p:nvPr/>
        </p:nvSpPr>
        <p:spPr>
          <a:xfrm>
            <a:off x="3114040" y="3749040"/>
            <a:ext cx="1104392" cy="384048"/>
          </a:xfrm>
          <a:prstGeom prst="roundRect">
            <a:avLst>
              <a:gd name="adj" fmla="val 47619"/>
            </a:avLst>
          </a:prstGeom>
          <a:solidFill>
            <a:srgbClr val="D6E6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두통</a:t>
            </a:r>
            <a:endParaRPr lang="en-US" sz="1300" dirty="0"/>
          </a:p>
        </p:txBody>
      </p:sp>
      <p:sp>
        <p:nvSpPr>
          <p:cNvPr id="19" name="라벨 복통"/>
          <p:cNvSpPr txBox="1"/>
          <p:nvPr/>
        </p:nvSpPr>
        <p:spPr>
          <a:xfrm>
            <a:off x="4328160" y="3749040"/>
            <a:ext cx="1104392" cy="384048"/>
          </a:xfrm>
          <a:prstGeom prst="roundRect">
            <a:avLst>
              <a:gd name="adj" fmla="val 47619"/>
            </a:avLst>
          </a:prstGeom>
          <a:solidFill>
            <a:srgbClr val="D6E6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복통</a:t>
            </a:r>
            <a:endParaRPr lang="en-US" sz="1300" dirty="0"/>
          </a:p>
        </p:txBody>
      </p:sp>
      <p:sp>
        <p:nvSpPr>
          <p:cNvPr id="20" name="라벨 어지러움"/>
          <p:cNvSpPr txBox="1"/>
          <p:nvPr/>
        </p:nvSpPr>
        <p:spPr>
          <a:xfrm>
            <a:off x="5542280" y="3749040"/>
            <a:ext cx="1104392" cy="384048"/>
          </a:xfrm>
          <a:prstGeom prst="roundRect">
            <a:avLst>
              <a:gd name="adj" fmla="val 47619"/>
            </a:avLst>
          </a:prstGeom>
          <a:solidFill>
            <a:srgbClr val="D6E6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어지러움</a:t>
            </a:r>
            <a:endParaRPr lang="en-US" sz="1300" dirty="0"/>
          </a:p>
        </p:txBody>
      </p:sp>
      <p:sp>
        <p:nvSpPr>
          <p:cNvPr id="21" name="라벨 열상"/>
          <p:cNvSpPr txBox="1"/>
          <p:nvPr/>
        </p:nvSpPr>
        <p:spPr>
          <a:xfrm>
            <a:off x="6756400" y="3749040"/>
            <a:ext cx="1104392" cy="384048"/>
          </a:xfrm>
          <a:prstGeom prst="roundRect">
            <a:avLst>
              <a:gd name="adj" fmla="val 47619"/>
            </a:avLst>
          </a:prstGeom>
          <a:solidFill>
            <a:srgbClr val="D6E6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열상</a:t>
            </a:r>
            <a:endParaRPr lang="en-US" sz="1300" dirty="0"/>
          </a:p>
        </p:txBody>
      </p:sp>
      <p:sp>
        <p:nvSpPr>
          <p:cNvPr id="22" name="라벨 오심"/>
          <p:cNvSpPr txBox="1"/>
          <p:nvPr/>
        </p:nvSpPr>
        <p:spPr>
          <a:xfrm>
            <a:off x="7970520" y="3749040"/>
            <a:ext cx="1104392" cy="384048"/>
          </a:xfrm>
          <a:prstGeom prst="roundRect">
            <a:avLst>
              <a:gd name="adj" fmla="val 47619"/>
            </a:avLst>
          </a:prstGeom>
          <a:solidFill>
            <a:srgbClr val="D6E6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오심</a:t>
            </a:r>
            <a:endParaRPr lang="en-US" sz="1300" dirty="0"/>
          </a:p>
        </p:txBody>
      </p:sp>
      <p:sp>
        <p:nvSpPr>
          <p:cNvPr id="23" name="라벨 전신쇠약"/>
          <p:cNvSpPr txBox="1"/>
          <p:nvPr/>
        </p:nvSpPr>
        <p:spPr>
          <a:xfrm>
            <a:off x="9184640" y="3749040"/>
            <a:ext cx="1104392" cy="384048"/>
          </a:xfrm>
          <a:prstGeom prst="roundRect">
            <a:avLst>
              <a:gd name="adj" fmla="val 47619"/>
            </a:avLst>
          </a:prstGeom>
          <a:solidFill>
            <a:srgbClr val="D6E6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전신쇠약</a:t>
            </a:r>
            <a:endParaRPr lang="en-US" sz="1300" dirty="0"/>
          </a:p>
        </p:txBody>
      </p:sp>
      <p:sp>
        <p:nvSpPr>
          <p:cNvPr id="24" name="라벨 호흡곤란"/>
          <p:cNvSpPr txBox="1"/>
          <p:nvPr/>
        </p:nvSpPr>
        <p:spPr>
          <a:xfrm>
            <a:off x="10398760" y="3749040"/>
            <a:ext cx="1104392" cy="384048"/>
          </a:xfrm>
          <a:prstGeom prst="roundRect">
            <a:avLst>
              <a:gd name="adj" fmla="val 47619"/>
            </a:avLst>
          </a:prstGeom>
          <a:solidFill>
            <a:srgbClr val="D6E6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호흡곤란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5800" y="4526280"/>
            <a:ext cx="10817352" cy="1417320"/>
          </a:xfrm>
          <a:prstGeom prst="roundRect">
            <a:avLst>
              <a:gd name="adj" fmla="val 3871"/>
            </a:avLst>
          </a:prstGeom>
          <a:solidFill>
            <a:srgbClr val="F2F7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14400" y="45720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평가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914400" y="4956048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지표: macro-F1 (9개 라벨 F1의 평균)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모든 클래스 threshold 0.5 고정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26280" y="45720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입력 제한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4526280" y="4956048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전사 텍스트만 사용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증상 라벨은 정답으로만 사용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8138160" y="45720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제출 방식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8138160" y="4956048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python inference.py 1회 실행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인터넷 없이 로컬 가중치로 추론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한눈에 보기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손실 보정과 앙상블로 macro-F1 0.6543에 도달했고, 남은 병목은 라벨 구조에 있다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85800" y="1920240"/>
            <a:ext cx="2430018" cy="3063240"/>
          </a:xfrm>
          <a:prstGeom prst="roundRect">
            <a:avLst>
              <a:gd name="adj" fmla="val 3010"/>
            </a:avLst>
          </a:prstGeom>
          <a:solidFill>
            <a:srgbClr val="FFFFFF"/>
          </a:solidFill>
          <a:ln w="19050">
            <a:solidFill>
              <a:srgbClr val="28489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210312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문제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06040"/>
            <a:ext cx="206425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9개 증상을 threshold 0.5 하나로 판정해야 하고, 라벨 양성 비율이 9.9~23.2%로 불균형하다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152394" y="3451860"/>
            <a:ext cx="292608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481578" y="1920240"/>
            <a:ext cx="2430018" cy="3063240"/>
          </a:xfrm>
          <a:prstGeom prst="roundRect">
            <a:avLst>
              <a:gd name="adj" fmla="val 3010"/>
            </a:avLst>
          </a:prstGeom>
          <a:solidFill>
            <a:srgbClr val="FFFFFF"/>
          </a:solidFill>
          <a:ln w="19050">
            <a:solidFill>
              <a:srgbClr val="28489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64458" y="210312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해결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664458" y="2606040"/>
            <a:ext cx="206425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pos_weight를 쓴 모델(recall형)과 쓰지 않은 모델(precision형)을 서로 다른 백본·seed로 앙상블해, 반대 방향의 오류를 상쇄하고 판정선 0.5에 맞춘다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948172" y="3451860"/>
            <a:ext cx="292608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277356" y="1920240"/>
            <a:ext cx="2430018" cy="3063240"/>
          </a:xfrm>
          <a:prstGeom prst="roundRect">
            <a:avLst>
              <a:gd name="adj" fmla="val 3010"/>
            </a:avLst>
          </a:prstGeom>
          <a:solidFill>
            <a:srgbClr val="FFFFFF"/>
          </a:solidFill>
          <a:ln w="19050">
            <a:solidFill>
              <a:srgbClr val="28489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60236" y="210312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병목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460236" y="2606040"/>
            <a:ext cx="206425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라벨이 처치가 끝난 뒤 부여돼 대화와 어긋난다 — 7개 라벨에서 놓친 증상의 85~98%는 대화에 표현이 없고, 오심은 F1 0.15~0.38에 머문다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743950" y="3451860"/>
            <a:ext cx="292608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9073134" y="1920240"/>
            <a:ext cx="2430018" cy="3063240"/>
          </a:xfrm>
          <a:prstGeom prst="roundRect">
            <a:avLst>
              <a:gd name="adj" fmla="val 3010"/>
            </a:avLst>
          </a:prstGeom>
          <a:solidFill>
            <a:srgbClr val="284890"/>
          </a:solidFill>
          <a:ln w="19050">
            <a:solidFill>
              <a:srgbClr val="28489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256014" y="210312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결과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9256014" y="2606040"/>
            <a:ext cx="206425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macro-F1 0.6543 (단일 모델 0.6177 → +0.037) · 715.2M 파라미터로 Validation 3,640건을 167.5초에 추론한다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85800" y="5303520"/>
            <a:ext cx="10817352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009DD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2960" y="545896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멘토링 반영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2011680" y="5303520"/>
            <a:ext cx="9354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남은 시간은 성능 개선보다 병목(오심·라벨 구조)이 왜 생기는지 분석하고 활용 방향을 정리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데이터 구성과 클래스 불균형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29,200건으로 학습하고 3,640건은 평가에만 쓰며, 양성 비율이 9.9~23.2%로 불균형하다</a:t>
            </a:r>
            <a:endParaRPr lang="en-US" sz="1600" dirty="0"/>
          </a:p>
        </p:txBody>
      </p:sp>
      <p:sp>
        <p:nvSpPr>
          <p:cNvPr id="6" name="KPI 카드"/>
          <p:cNvSpPr txBox="1"/>
          <p:nvPr/>
        </p:nvSpPr>
        <p:spPr>
          <a:xfrm>
            <a:off x="685800" y="1874520"/>
            <a:ext cx="253288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29,200</a:t>
            </a:r>
            <a:endParaRPr lang="en-US" sz="3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학습 통화 수 (Training)</a:t>
            </a:r>
            <a:endParaRPr lang="en-US" sz="3000" dirty="0"/>
          </a:p>
        </p:txBody>
      </p:sp>
      <p:sp>
        <p:nvSpPr>
          <p:cNvPr id="7" name="KPI 카드"/>
          <p:cNvSpPr txBox="1"/>
          <p:nvPr/>
        </p:nvSpPr>
        <p:spPr>
          <a:xfrm>
            <a:off x="3447288" y="1874520"/>
            <a:ext cx="253288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3,640</a:t>
            </a:r>
            <a:endParaRPr lang="en-US" sz="3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Validation (평가 전용)</a:t>
            </a:r>
            <a:endParaRPr lang="en-US" sz="3000" dirty="0"/>
          </a:p>
        </p:txBody>
      </p:sp>
      <p:sp>
        <p:nvSpPr>
          <p:cNvPr id="8" name="KPI 카드"/>
          <p:cNvSpPr txBox="1"/>
          <p:nvPr/>
        </p:nvSpPr>
        <p:spPr>
          <a:xfrm>
            <a:off x="6208776" y="1874520"/>
            <a:ext cx="253288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9</a:t>
            </a:r>
            <a:endParaRPr lang="en-US" sz="3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타깃 증상 라벨</a:t>
            </a:r>
            <a:endParaRPr lang="en-US" sz="3000" dirty="0"/>
          </a:p>
        </p:txBody>
      </p:sp>
      <p:sp>
        <p:nvSpPr>
          <p:cNvPr id="9" name="KPI 카드"/>
          <p:cNvSpPr txBox="1"/>
          <p:nvPr/>
        </p:nvSpPr>
        <p:spPr>
          <a:xfrm>
            <a:off x="8970264" y="1874520"/>
            <a:ext cx="2532888" cy="1143000"/>
          </a:xfrm>
          <a:prstGeom prst="roundRect">
            <a:avLst>
              <a:gd name="adj" fmla="val 8000"/>
            </a:avLst>
          </a:prstGeom>
          <a:solidFill>
            <a:srgbClr val="284890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1.43</a:t>
            </a:r>
            <a:endParaRPr lang="en-US" sz="3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통화당 평균 증상 수 (Training)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20040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라벨별 양성 비율 (%) — Training</a:t>
            </a:r>
            <a:endParaRPr lang="en-US" sz="14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94360" y="3520440"/>
          <a:ext cx="539496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6263640" y="320040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관찰 → 설계 결정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6263640" y="3611880"/>
            <a:ext cx="2423160" cy="731520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양성 비율이 9.9~23.2%로 불균형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732520" y="3977640"/>
            <a:ext cx="274320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</p:sp>
      <p:sp>
        <p:nvSpPr>
          <p:cNvPr id="15" name="Text 11"/>
          <p:cNvSpPr txBox="1"/>
          <p:nvPr/>
        </p:nvSpPr>
        <p:spPr>
          <a:xfrm>
            <a:off x="9052560" y="3611880"/>
            <a:ext cx="245059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pos_weight = 음성/양성 (Training 통계만 사용)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6263640" y="4480560"/>
            <a:ext cx="2423160" cy="731520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512토큰을 넘는 통화는 0.4~2.7%뿐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732520" y="4846320"/>
            <a:ext cx="274320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</p:sp>
      <p:sp>
        <p:nvSpPr>
          <p:cNvPr id="18" name="Text 14"/>
          <p:cNvSpPr txBox="1"/>
          <p:nvPr/>
        </p:nvSpPr>
        <p:spPr>
          <a:xfrm>
            <a:off x="9052560" y="4480560"/>
            <a:ext cx="245059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입력은 최대 512토큰으로 충분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6263640" y="5349240"/>
            <a:ext cx="2423160" cy="731520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증상 라벨 외 정보는 입력 불가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8732520" y="5715000"/>
            <a:ext cx="274320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</p:sp>
      <p:sp>
        <p:nvSpPr>
          <p:cNvPr id="21" name="Text 17"/>
          <p:cNvSpPr txBox="1"/>
          <p:nvPr/>
        </p:nvSpPr>
        <p:spPr>
          <a:xfrm>
            <a:off x="9052560" y="5349240"/>
            <a:ext cx="245059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전사 text만 시간순으로 연결, 화자 태그 없음</a:t>
            </a:r>
            <a:endParaRPr lang="en-US" sz="1150" dirty="0"/>
          </a:p>
        </p:txBody>
      </p:sp>
      <p:sp>
        <p:nvSpPr>
          <p:cNvPr id="22" name="각주"/>
          <p:cNvSpPr txBox="1"/>
          <p:nvPr/>
        </p:nvSpPr>
        <p:spPr>
          <a:xfrm>
            <a:off x="685800" y="62910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공식 Training 29,200건 기준 · 한 통화에 여러 증상이 있을 수 있어 비율의 합은 100%를 넘음 · 강조: 가장 낮은 두 라벨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라벨 구조 분석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정답의 67%는 증상 1개이고, 여러 증상이 나와도 처음 말한 증상이 라벨인 경우가 65.6%이다</a:t>
            </a:r>
            <a:endParaRPr lang="en-US" sz="1600" dirty="0"/>
          </a:p>
        </p:txBody>
      </p:sp>
      <p:sp>
        <p:nvSpPr>
          <p:cNvPr id="6" name="KPI 카드"/>
          <p:cNvSpPr txBox="1"/>
          <p:nvPr/>
        </p:nvSpPr>
        <p:spPr>
          <a:xfrm>
            <a:off x="685800" y="187452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284890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67%</a:t>
            </a:r>
            <a:endParaRPr lang="en-US" sz="3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단일 라벨 통화 (19,560 / 29,200, Validation 66%)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20040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단일 라벨 통화에서 라벨이 가리키는 증상 (%)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94360" y="3520440"/>
          <a:ext cx="53035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263640" y="187452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라벨 동시 출현 그룹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263640" y="2240280"/>
            <a:ext cx="523951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소화기 · 어지럼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구토 · 오심 · 어지러움 · 복통</a:t>
            </a:r>
            <a:endParaRPr lang="en-US" sz="12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오심 → 어지러움 48.8%, 오심 → 구토 38.6%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6263640" y="3410712"/>
            <a:ext cx="523951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전신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고열 · 전신쇠약 · 호흡곤란</a:t>
            </a:r>
            <a:endParaRPr lang="en-US" sz="12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고열 ↔ 전신쇠약 동시 출현 약 18%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6263640" y="4581144"/>
            <a:ext cx="523951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외상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열상</a:t>
            </a:r>
            <a:endParaRPr lang="en-US" sz="12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다른 증상과 동시 출현 4% 이하 (독립)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6263640" y="5742432"/>
            <a:ext cx="5239512" cy="457200"/>
          </a:xfrm>
          <a:prstGeom prst="roundRect">
            <a:avLst>
              <a:gd name="adj" fmla="val 16000"/>
            </a:avLst>
          </a:prstGeom>
          <a:solidFill>
            <a:srgbClr val="284890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열상은 독립적이라 F1 최고(0.88), 오심은 부가 증상이라 최하위</a:t>
            </a:r>
            <a:endParaRPr lang="en-US" sz="1250" dirty="0"/>
          </a:p>
        </p:txBody>
      </p:sp>
      <p:sp>
        <p:nvSpPr>
          <p:cNvPr id="14" name="각주"/>
          <p:cNvSpPr txBox="1"/>
          <p:nvPr/>
        </p:nvSpPr>
        <p:spPr>
          <a:xfrm>
            <a:off x="685800" y="6272784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첫 언급·마지막 언급·최다 반복은 여러 증상이 언급된 단일 라벨 샘플 기준(합이 100%가 아님)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규정 준수와 공정한 비교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허용된 입력과 판정 규칙만 쓰고, 모든 모델을 같은 조건으로 비교했다</a:t>
            </a:r>
            <a:endParaRPr lang="en-US" sz="1600" dirty="0"/>
          </a:p>
        </p:txBody>
      </p:sp>
      <p:graphicFrame>
        <p:nvGraphicFramePr>
          <p:cNvPr id="6" name="규정 준수 설계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28800"/>
          <a:ext cx="1081735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023360"/>
                <a:gridCol w="523951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규정 요건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우리의 설계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판정 기준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threshold 0.5 고정 (클래스별 조정 금지)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모든 라벨을 prob ≥ 0.5로 판정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Validation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학습 금지, 평가와 best epoch 선택에만 사용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Training으로만 학습, best epoch은 macro-F1 기준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입력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전사 텍스트만 사용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text를 시간순으로 연결 (화자 태그 없음)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손실 설계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손실·보정 설계는 허용 (판정선 조정은 불가)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pos_weight는 Training 양성/음성 수로 계산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라벨 · 환경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공식 9개 증상만 평가·출력, 오프라인 채점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9개 라벨만 사용 · 모델 파일을 제출 폴더에 포함 (오프라인 추론)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85800" y="4617720"/>
            <a:ext cx="256717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009DDA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22960" y="472744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멘토링 반영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5093208"/>
            <a:ext cx="22928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초기의 클래스별 threshold 최적화는 폐기하고 0.5 고정 기준으로 다시 실험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3435858" y="4617720"/>
            <a:ext cx="256717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009DD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573018" y="472744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멘토링 반영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3573018" y="5093208"/>
            <a:ext cx="22928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pos_weight는 Training 불균형 같은 명확한 근거로 정하면 가능 (Validation·OOF로 최적값 탐색은 불가)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185916" y="4617720"/>
            <a:ext cx="256717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009DD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323076" y="472744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멘토링 반영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6323076" y="5093208"/>
            <a:ext cx="22928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백본을 공정하게 비교하려고 split·입력·라벨·평가 함수·seed를 통일 (부록 A1)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935974" y="4617720"/>
            <a:ext cx="256717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009DD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073134" y="472744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멘토링 반영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9073134" y="5093208"/>
            <a:ext cx="22928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라벨 수정은 불가하므로 주어진 라벨로 개발하고 성능이 낮은 이유를 논리적으로 설명 → 오류 분석으로 연결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실험 로드맵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개별 탐색 → 조건 통일 → 심화 실험 → 최종 구성의 4단계로 진행했다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85800" y="1874520"/>
            <a:ext cx="2498598" cy="2606040"/>
          </a:xfrm>
          <a:prstGeom prst="roundRect">
            <a:avLst>
              <a:gd name="adj" fmla="val 2928"/>
            </a:avLst>
          </a:prstGeom>
          <a:solidFill>
            <a:srgbClr val="FFFFFF"/>
          </a:solidFill>
          <a:ln w="15875">
            <a:solidFill>
              <a:srgbClr val="28489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965960"/>
            <a:ext cx="22242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DD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~9/23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240280"/>
            <a:ext cx="2224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탐색기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788920"/>
            <a:ext cx="222427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백본별 개별 탐색 (KoBERT, KLUE-RoBERTa, KcELECTRA 등)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평가 기준이 서로 달라 수치 비교 불가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클래스별 threshold 최적화 사용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11830" y="3154680"/>
            <a:ext cx="219456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458718" y="1874520"/>
            <a:ext cx="2498598" cy="2606040"/>
          </a:xfrm>
          <a:prstGeom prst="roundRect">
            <a:avLst>
              <a:gd name="adj" fmla="val 2928"/>
            </a:avLst>
          </a:prstGeom>
          <a:solidFill>
            <a:srgbClr val="FFFFFF"/>
          </a:solidFill>
          <a:ln w="15875">
            <a:solidFill>
              <a:srgbClr val="28489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95878" y="1965960"/>
            <a:ext cx="22242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DD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10/1 ~ 10/3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595878" y="2240280"/>
            <a:ext cx="2224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통일·규정 정리기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3595878" y="2788920"/>
            <a:ext cx="222427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공식 공지·멘토링 반영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threshold 0.5 고정으로 재설계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비교 조건 6가지 통일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984748" y="3154680"/>
            <a:ext cx="219456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231636" y="1874520"/>
            <a:ext cx="2498598" cy="2606040"/>
          </a:xfrm>
          <a:prstGeom prst="roundRect">
            <a:avLst>
              <a:gd name="adj" fmla="val 2928"/>
            </a:avLst>
          </a:prstGeom>
          <a:solidFill>
            <a:srgbClr val="FFFFFF"/>
          </a:solidFill>
          <a:ln w="15875">
            <a:solidFill>
              <a:srgbClr val="28489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68796" y="1965960"/>
            <a:ext cx="22242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DD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10/3 ~ 10/8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368796" y="2240280"/>
            <a:ext cx="2224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심화 실험·앙상블 설계기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6368796" y="2788920"/>
            <a:ext cx="222427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pos_weight 비교, 3-seed 검증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pooling·길이·모델 크기·보조 라벨 실험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앙상블 규칙 설계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757666" y="3154680"/>
            <a:ext cx="219456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9004554" y="1874520"/>
            <a:ext cx="2498598" cy="2606040"/>
          </a:xfrm>
          <a:prstGeom prst="roundRect">
            <a:avLst>
              <a:gd name="adj" fmla="val 2928"/>
            </a:avLst>
          </a:prstGeom>
          <a:solidFill>
            <a:srgbClr val="284890"/>
          </a:solidFill>
          <a:ln w="15875">
            <a:solidFill>
              <a:srgbClr val="28489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141714" y="1965960"/>
            <a:ext cx="22242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FE6F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10/8 ~ 10/10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9141714" y="2240280"/>
            <a:ext cx="2224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최종 제출 구성기</a:t>
            </a:r>
            <a:endParaRPr lang="en-US" sz="1450" dirty="0"/>
          </a:p>
        </p:txBody>
      </p:sp>
      <p:sp>
        <p:nvSpPr>
          <p:cNvPr id="24" name="Text 21"/>
          <p:cNvSpPr txBox="1"/>
          <p:nvPr/>
        </p:nvSpPr>
        <p:spPr>
          <a:xfrm>
            <a:off x="9141714" y="2788920"/>
            <a:ext cx="222427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KLUE posw + KcELECTRA none 확정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inference.py 작성·재현 검증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제출 패키지 구성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685800" y="46177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팀원별 담당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" y="4983480"/>
            <a:ext cx="2498598" cy="1188720"/>
          </a:xfrm>
          <a:prstGeom prst="roundRect">
            <a:avLst>
              <a:gd name="adj" fmla="val 6154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최나현 (팀장)</a:t>
            </a:r>
            <a:endParaRPr lang="en-US" sz="125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KLUE-RoBERTa 실험(loss·seed·길이·pooling), 오류 분석, 제출 패키지·재현 검증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3458718" y="4983480"/>
            <a:ext cx="2498598" cy="1188720"/>
          </a:xfrm>
          <a:prstGeom prst="roundRect">
            <a:avLst>
              <a:gd name="adj" fmla="val 6154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남연서</a:t>
            </a:r>
            <a:endParaRPr lang="en-US" sz="125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KcELECTRA·KoELECTRA 실험, 보조 라벨, 앙상블 규칙 비교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6231636" y="4983480"/>
            <a:ext cx="2498598" cy="1188720"/>
          </a:xfrm>
          <a:prstGeom prst="roundRect">
            <a:avLst>
              <a:gd name="adj" fmla="val 6154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김규현</a:t>
            </a:r>
            <a:endParaRPr lang="en-US" sz="125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KcELECTRA 3-seed 학습·이어하기 코드, 오심 한계 분석, 앙상블 분석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9004554" y="4983480"/>
            <a:ext cx="2498598" cy="1188720"/>
          </a:xfrm>
          <a:prstGeom prst="roundRect">
            <a:avLst>
              <a:gd name="adj" fmla="val 6154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변진호</a:t>
            </a:r>
            <a:endParaRPr lang="en-US" sz="125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데이터·라벨 구조 분석(원본 46개 라벨), 데이터 필터 오류 발견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백본 비교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KoBERT에서 KLUE-RoBERTa로 바꾸면 +0.030이고, 같은 loss에서 최신 백본 사이 차이는 seed 편차 수준이다</a:t>
            </a:r>
            <a:endParaRPr lang="en-US" sz="1600" dirty="0"/>
          </a:p>
        </p:txBody>
      </p:sp>
      <p:graphicFrame>
        <p:nvGraphicFramePr>
          <p:cNvPr id="8" name="백본 비교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74520"/>
          <a:ext cx="70408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22960"/>
                <a:gridCol w="1280160"/>
                <a:gridCol w="155448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백본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담당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none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posw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sqrt (참고)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KoBERT (기준)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나현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-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0.5880 (seed 42)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-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KLUE-RoBERTa base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나현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0.6108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0.6144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0.6427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KcELECTRA-v2022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규현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0.6074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-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0.6430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KoELECTRA-v3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연서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-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-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0.6374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KcELECTRA (구버전)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연서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-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-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0.6369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KPI 카드"/>
          <p:cNvSpPr txBox="1"/>
          <p:nvPr/>
        </p:nvSpPr>
        <p:spPr>
          <a:xfrm>
            <a:off x="8046720" y="1874520"/>
            <a:ext cx="345643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+0.030</a:t>
            </a:r>
            <a:endParaRPr lang="en-US" sz="3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백본 교체 효과 (KoBERT → KLUE-RoBERTa, posw · seed 42)</a:t>
            </a:r>
            <a:endParaRPr lang="en-US" sz="3200" dirty="0"/>
          </a:p>
        </p:txBody>
      </p:sp>
      <p:sp>
        <p:nvSpPr>
          <p:cNvPr id="8" name="KPI 카드"/>
          <p:cNvSpPr txBox="1"/>
          <p:nvPr/>
        </p:nvSpPr>
        <p:spPr>
          <a:xfrm>
            <a:off x="8046720" y="3474720"/>
            <a:ext cx="3456432" cy="1417320"/>
          </a:xfrm>
          <a:prstGeom prst="roundRect">
            <a:avLst>
              <a:gd name="adj" fmla="val 6452"/>
            </a:avLst>
          </a:prstGeom>
          <a:solidFill>
            <a:srgbClr val="284890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≤ 0.006</a:t>
            </a:r>
            <a:endParaRPr lang="en-US" sz="3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같은 loss(none)에서 KLUE와 KcELECTRA의 차이 (seed 편차 수준)</a:t>
            </a:r>
            <a:endParaRPr lang="en-US" sz="3200" dirty="0"/>
          </a:p>
        </p:txBody>
      </p:sp>
      <p:sp>
        <p:nvSpPr>
          <p:cNvPr id="9" name="Shape 5"/>
          <p:cNvSpPr/>
          <p:nvPr/>
        </p:nvSpPr>
        <p:spPr>
          <a:xfrm>
            <a:off x="685800" y="5349240"/>
            <a:ext cx="1081735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009DD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22960" y="546811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결정과 이유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2011680" y="5349240"/>
            <a:ext cx="9354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두 모델은 성능이 같아(차이 ≤0.006) 우열이 아니라 사전학습 방식(MLM vs 대체 토큰 탐지)이 달라 오류가 덜 겹칠 것을 기대하고 함께 선정</a:t>
            </a:r>
            <a:endParaRPr lang="en-US" sz="1250" dirty="0"/>
          </a:p>
        </p:txBody>
      </p:sp>
      <p:sp>
        <p:nvSpPr>
          <p:cNvPr id="12" name="각주"/>
          <p:cNvSpPr txBox="1"/>
          <p:nvPr/>
        </p:nvSpPr>
        <p:spPr>
          <a:xfrm>
            <a:off x="685800" y="605332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공식 Validation 3,640건 · threshold 0.5 · seed 42/123/2026 평균 · posw = pos_weight(음성/양성)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손실 설계(pos_weight) 비교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pos_weight가 없으면 precision으로, 음성/양성 그대로면 recall로 쏠려 판정선 0.5에 맞추기 어렵다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2880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loss 설정별 macro-F1 (KLUE-RoBERTa, seed 42)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94360" y="2148840"/>
          <a:ext cx="50292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loss 비교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2194560"/>
          <a:ext cx="560527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868680"/>
                <a:gridCol w="868680"/>
                <a:gridCol w="1764792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설정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macro P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macro R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오심 F1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3-seed 평균 ± 표준편차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none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0.744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0.536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0.201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0.6108 ± 0.0023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posw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0.546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0.722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0.382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0.6144 ± 0.0031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sqrt (참고)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0.643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0.647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0.393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0.6427 ± 0.0029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5897880" y="4114800"/>
            <a:ext cx="5605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none: 양성이 적은 라벨은 확률이 0.5에 못 미쳐 오심 recall 0.128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posw: 양성에 가중을 줘 판정선이 소수 라벨 쪽으로 이동 → 모든 라벨 recall &gt; precision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sqrt: P ≈ R이라 단일 최고(0.6405)이나 참고로만 표기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685800" y="5303520"/>
            <a:ext cx="10817352" cy="640080"/>
          </a:xfrm>
          <a:prstGeom prst="roundRect">
            <a:avLst>
              <a:gd name="adj" fmla="val 11429"/>
            </a:avLst>
          </a:prstGeom>
          <a:solidFill>
            <a:srgbClr val="284890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최종 구성: posw(recall형)와 none(precision형)을 앙상블해 판정선 0.5에 맞는 중간 성향을 만든다</a:t>
            </a:r>
            <a:endParaRPr lang="en-US" sz="1400" dirty="0"/>
          </a:p>
        </p:txBody>
      </p:sp>
      <p:sp>
        <p:nvSpPr>
          <p:cNvPr id="11" name="각주"/>
          <p:cNvSpPr txBox="1"/>
          <p:nvPr/>
        </p:nvSpPr>
        <p:spPr>
          <a:xfrm>
            <a:off x="685800" y="605332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공식 Validation 3,640건 · threshold 0.5 · macro P/R은 라벨별 값의 평균 (macro-F1은 라벨별 F1의 평균이라 P·R로 재계산한 값과 다름)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차이가 의미 있는가: 효과 크기와 seed 편차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seed 표준편차(약 0.003)의 2배를 넘는 차이만 효과로 인정하고, 그보다 작으면 우열을 주장하지 않았다</a:t>
            </a:r>
            <a:endParaRPr lang="en-US" sz="1600" dirty="0"/>
          </a:p>
        </p:txBody>
      </p:sp>
      <p:graphicFrame>
        <p:nvGraphicFramePr>
          <p:cNvPr id="10" name="효과 크기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28800"/>
          <a:ext cx="10817352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886200"/>
                <a:gridCol w="1417320"/>
                <a:gridCol w="1097280"/>
                <a:gridCol w="28163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결정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비교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Δ macro-F1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Δ ÷ σ (0.003)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판단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백본 교체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KoBERT → KLUE-RoBERTa (posw, seed 42)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+0.030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9.9배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채택 · 뚜렷한 효과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seed 평균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seed 3개 확률 평균 (3개 구성 모두)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+0.006 ~ +0.010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2.1 ~ 3.4배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채택 · 학습 분산 감소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성향 혼합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KLUE posw 3 + none 3 ↔ posw 3개 앙상블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+0.026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8.6배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채택 · 반대 방향 오류 상쇄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백본 혼합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KLUE 6개 → KLUE + KcELECTRA 6개 (용량 비슷)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+0.004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1.3배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우열 주장 안 함 · 오류 다양성으로 유지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백본 간 비교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KLUE ↔ KcELECTRA (none, 단일 모델)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+0.003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1.1배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동급 → 다양성 목적으로 함께 사용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loss 비교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KLUE none → posw (단일 모델)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+0.004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1.2배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점수 차이 없음 · P/R이 반대라 혼합용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구조·후처리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attention pooling · 길이 256 · 보조 라벨 · top-1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−0.004 ~ +0.001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0.1 ~ 1.3배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기각 (부록 A4)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85800" y="5559552"/>
            <a:ext cx="1081735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875">
            <a:solidFill>
              <a:srgbClr val="009DDA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22960" y="5660136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원칙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2011680" y="5559552"/>
            <a:ext cx="9354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동급이면 성능 우열 대신 오류가 얼마나 다른지로 구성을 정하고, 효과가 σ 이내인 시도는 기각</a:t>
            </a:r>
            <a:endParaRPr lang="en-US" sz="1250" dirty="0"/>
          </a:p>
        </p:txBody>
      </p:sp>
      <p:sp>
        <p:nvSpPr>
          <p:cNvPr id="10" name="각주"/>
          <p:cNvSpPr txBox="1"/>
          <p:nvPr/>
        </p:nvSpPr>
        <p:spPr>
          <a:xfrm>
            <a:off x="685800" y="62179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σ = seed 표준편차의 상한 0.003 · 2배 기준은 팀이 정한 판단 기준이며, seed가 3개뿐이라 검정력이 낮아 표준편차 비교를 주 기준으로 사용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앙상블 규칙과 다양성 근거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성향이 반대인 두 모델(posw=recall형, none=precision형)을 동일 가중으로 평균해 0.5 판정선에 맞춘다</a:t>
            </a:r>
            <a:endParaRPr lang="en-US" sz="1600" dirty="0"/>
          </a:p>
        </p:txBody>
      </p:sp>
      <p:sp>
        <p:nvSpPr>
          <p:cNvPr id="6" name="모델 1"/>
          <p:cNvSpPr txBox="1"/>
          <p:nvPr/>
        </p:nvSpPr>
        <p:spPr>
          <a:xfrm>
            <a:off x="685800" y="187452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KLUE-RoBERTa + posw</a:t>
            </a:r>
            <a:endParaRPr lang="en-US" sz="12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recall형 · P 0.546 / R 0.722</a:t>
            </a:r>
            <a:endParaRPr lang="en-US" sz="12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seed 42 · 123 · 2026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968496" y="2491740"/>
            <a:ext cx="384048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4434840" y="187452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seed 3개</a:t>
            </a:r>
            <a:endParaRPr lang="en-US" sz="125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확률 평균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91656" y="2491740"/>
            <a:ext cx="420624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</p:sp>
      <p:sp>
        <p:nvSpPr>
          <p:cNvPr id="10" name="모델 2"/>
          <p:cNvSpPr txBox="1"/>
          <p:nvPr/>
        </p:nvSpPr>
        <p:spPr>
          <a:xfrm>
            <a:off x="685800" y="324612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KcELECTRA-v2022 + none</a:t>
            </a:r>
            <a:endParaRPr lang="en-US" sz="12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precision형 · P 0.726 / R 0.551</a:t>
            </a:r>
            <a:endParaRPr lang="en-US" sz="12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seed 42 · 123 · 2026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968496" y="3863340"/>
            <a:ext cx="384048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4434840" y="324612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seed 3개</a:t>
            </a:r>
            <a:endParaRPr lang="en-US" sz="125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확률 평균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391656" y="3863340"/>
            <a:ext cx="420624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6858000" y="1874520"/>
            <a:ext cx="2057400" cy="2606040"/>
          </a:xfrm>
          <a:prstGeom prst="roundRect">
            <a:avLst>
              <a:gd name="adj" fmla="val 3556"/>
            </a:avLst>
          </a:prstGeom>
          <a:solidFill>
            <a:srgbClr val="F2F7FC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두 백본</a:t>
            </a:r>
            <a:endParaRPr lang="en-US" sz="125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 : 1 평균</a:t>
            </a:r>
            <a:endParaRPr lang="en-US" sz="125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(가중치 탐색 없음)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951976" y="3177540"/>
            <a:ext cx="374904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9372600" y="1874520"/>
            <a:ext cx="2130552" cy="2606040"/>
          </a:xfrm>
          <a:prstGeom prst="roundRect">
            <a:avLst>
              <a:gd name="adj" fmla="val 3433"/>
            </a:avLst>
          </a:prstGeom>
          <a:solidFill>
            <a:srgbClr val="284890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prob ≥ 0.5</a:t>
            </a:r>
            <a:endParaRPr lang="en-US" sz="125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→ 증상 출력</a:t>
            </a:r>
            <a:endParaRPr lang="en-US" sz="125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(전 라벨 동일 threshold)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85800" y="4709160"/>
            <a:ext cx="345338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28489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4773168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recall형 + precision형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5257800"/>
            <a:ext cx="3179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KLUE posw는 과잉 예측, KcELECTRA none은 보수적 예측 → 평균하면 서로 보완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367784" y="4709160"/>
            <a:ext cx="345338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28489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04944" y="4773168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11.3%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4504944" y="5257800"/>
            <a:ext cx="3179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두 백본의 예측 불일치율 → 백본이 다르면 오류 중복이 줄어듦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049768" y="4709160"/>
            <a:ext cx="345338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28489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186928" y="4773168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0.96 vs 0.97~0.98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8186928" y="5257800"/>
            <a:ext cx="3179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백본이 다르면 확률 상관이 조금 낮음 (차이는 작아 다양성은 기대 수준) · 멘토링: 아키텍처가 다를수록 앙상블 효과가 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앙상블 단계별 성능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단일 모델 0.6177에서 seed 평균, 성향 혼합, 백본 혼합을 거쳐 최종 0.6543에 도달했다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2880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단계별 Validation macro-F1과 상승 이유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94360" y="2103120"/>
          <a:ext cx="109728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85800" y="4526280"/>
            <a:ext cx="2017166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9DD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① 기준</a:t>
            </a:r>
            <a:endParaRPr lang="en-US" sz="12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KLUE posw 단일 모델 (seed 42)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2885846" y="4526280"/>
            <a:ext cx="2017166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9DD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② 분산 감소</a:t>
            </a:r>
            <a:endParaRPr lang="en-US" sz="12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seed마다 달라지는 학습 오차를 평균으로 줄임 · +0.007 (≈2σ)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085893" y="4526280"/>
            <a:ext cx="2017166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9DD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③ 오류 상쇄</a:t>
            </a:r>
            <a:endParaRPr lang="en-US" sz="12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posw의 과잉 예측과 none의 보수적 예측은 방향이 반대라 평균하면 상쇄 · +0.026 (≈9σ) · 2개만으로도 0.6440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7285939" y="4526280"/>
            <a:ext cx="2017166" cy="1554480"/>
          </a:xfrm>
          <a:prstGeom prst="roundRect">
            <a:avLst>
              <a:gd name="adj" fmla="val 4706"/>
            </a:avLst>
          </a:prstGeom>
          <a:solidFill>
            <a:srgbClr val="284890"/>
          </a:solidFill>
          <a:ln w="15875">
            <a:solidFill>
              <a:srgbClr val="284890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FE6F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④ 오류 분산</a:t>
            </a:r>
            <a:endParaRPr lang="en-US" sz="12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사전학습이 다른 백본은 틀리는 샘플이 덜 겹침 (불일치 11.3%) · +0.004 추가 (편차 안팎) → 최종 0.6543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9485986" y="4526280"/>
            <a:ext cx="2017166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9DD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⑤ 참고</a:t>
            </a:r>
            <a:endParaRPr lang="en-US" sz="12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sqrt 6모델과의 차이 +0.0015는 seed 편차 이내 → 규정 해석 여지 없는 구성 선택</a:t>
            </a:r>
            <a:endParaRPr lang="en-US" sz="1250" dirty="0"/>
          </a:p>
        </p:txBody>
      </p:sp>
      <p:sp>
        <p:nvSpPr>
          <p:cNvPr id="13" name="각주"/>
          <p:cNvSpPr txBox="1"/>
          <p:nvPr/>
        </p:nvSpPr>
        <p:spPr>
          <a:xfrm>
            <a:off x="685800" y="614476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공식 Validation 3,640건 · threshold 0.5 · 가중치 탐색 없음 · ⑤는 KLUE·KcELECTRA-v2022 sqrt 3-seed씩 6모델(3개 백본 9모델은 0.6569)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라벨별 성능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열상(0.84~0.88)은 쉽고 오심(0.15~0.38)은 어려우며, posw는 오심에, none은 나머지 라벨에 강하다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2880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라벨별 F1 — 최종 앙상블의 두 구성요소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94360" y="2148840"/>
          <a:ext cx="109728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85800" y="5349240"/>
            <a:ext cx="3502152" cy="777240"/>
          </a:xfrm>
          <a:prstGeom prst="roundRect">
            <a:avLst>
              <a:gd name="adj" fmla="val 9412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열상: 다른 증상과 독립적이라 두 모델 모두 최고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4343400" y="5349240"/>
            <a:ext cx="3502152" cy="777240"/>
          </a:xfrm>
          <a:prstGeom prst="roundRect">
            <a:avLst>
              <a:gd name="adj" fmla="val 9412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오심: none 0.154 vs posw 0.382 → posw가 약한 라벨을 보완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8001000" y="5349240"/>
            <a:ext cx="3502152" cy="777240"/>
          </a:xfrm>
          <a:prstGeom prst="roundRect">
            <a:avLst>
              <a:gd name="adj" fmla="val 9412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전신쇠약만 posw가 앞서고 나머지는 none이 높아 서로 상보적</a:t>
            </a:r>
            <a:endParaRPr lang="en-US" sz="1200" dirty="0"/>
          </a:p>
        </p:txBody>
      </p:sp>
      <p:sp>
        <p:nvSpPr>
          <p:cNvPr id="11" name="각주"/>
          <p:cNvSpPr txBox="1"/>
          <p:nvPr/>
        </p:nvSpPr>
        <p:spPr>
          <a:xfrm>
            <a:off x="685800" y="619963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단일 seed(KLUE)와 3-seed 평균(KcELECTRA)을 비교하므로 차이가 일부 과대 · 공식 Validation, threshold 0.5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오심 오류 분석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오심은 정규식 패턴(F1 0.142)과 모델(0.184) 성능이 비슷해, 텍스트만으로 구분하기 어려운 라벨이다</a:t>
            </a:r>
            <a:endParaRPr lang="en-US" sz="1600" dirty="0"/>
          </a:p>
        </p:txBody>
      </p:sp>
      <p:sp>
        <p:nvSpPr>
          <p:cNvPr id="6" name="KPI 카드"/>
          <p:cNvSpPr txBox="1"/>
          <p:nvPr/>
        </p:nvSpPr>
        <p:spPr>
          <a:xfrm>
            <a:off x="685800" y="1874520"/>
            <a:ext cx="2788920" cy="1234440"/>
          </a:xfrm>
          <a:prstGeom prst="roundRect">
            <a:avLst>
              <a:gd name="adj" fmla="val 7407"/>
            </a:avLst>
          </a:prstGeom>
          <a:solidFill>
            <a:srgbClr val="284890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0.142 vs 0.184</a:t>
            </a:r>
            <a:endParaRPr lang="en-US" sz="2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정규식 패턴 vs 모델 F1 (Training 표본) — 거의 같은 수준</a:t>
            </a:r>
            <a:endParaRPr lang="en-US" sz="2200" dirty="0"/>
          </a:p>
        </p:txBody>
      </p:sp>
      <p:sp>
        <p:nvSpPr>
          <p:cNvPr id="7" name="KPI 카드"/>
          <p:cNvSpPr txBox="1"/>
          <p:nvPr/>
        </p:nvSpPr>
        <p:spPr>
          <a:xfrm>
            <a:off x="3657600" y="1874520"/>
            <a:ext cx="27889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48.8% · 38.6%</a:t>
            </a:r>
            <a:endParaRPr lang="en-US" sz="2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오심 라벨 중 어지러움 · 구토가 함께 붙는 비율</a:t>
            </a:r>
            <a:endParaRPr lang="en-US" sz="2200" dirty="0"/>
          </a:p>
        </p:txBody>
      </p:sp>
      <p:sp>
        <p:nvSpPr>
          <p:cNvPr id="8" name="KPI 카드"/>
          <p:cNvSpPr txBox="1"/>
          <p:nvPr/>
        </p:nvSpPr>
        <p:spPr>
          <a:xfrm>
            <a:off x="685800" y="3246120"/>
            <a:ext cx="27889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90%</a:t>
            </a:r>
            <a:endParaRPr lang="en-US" sz="2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오심 오탐(FP) 중 대화에 근거 표현이 없는 비율</a:t>
            </a:r>
            <a:endParaRPr lang="en-US" sz="2200" dirty="0"/>
          </a:p>
        </p:txBody>
      </p:sp>
      <p:sp>
        <p:nvSpPr>
          <p:cNvPr id="9" name="KPI 카드"/>
          <p:cNvSpPr txBox="1"/>
          <p:nvPr/>
        </p:nvSpPr>
        <p:spPr>
          <a:xfrm>
            <a:off x="3657600" y="3246120"/>
            <a:ext cx="27889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0.128</a:t>
            </a:r>
            <a:endParaRPr lang="en-US" sz="2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pos_weight 없을 때(none) 오심 recall — 약한 라벨이 먼저 무너짐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720840" y="18745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해석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720840" y="2240280"/>
            <a:ext cx="478231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오심은 단독 증상보다 어지러움·구토에 딸려 붙는 부가 증상 성격이다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멘토링: 라벨은 처치가 끝난 뒤 부여돼 대화에 표현이 없어도 양성일 수 있다 (아래 예시)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오심 F1(KcELECTRA none 0.154)이 macro-F1을 약 6%p 낮춘다 (오심 제외 8개 평균 0.671)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보조 라벨을 추가해도 오심 F1은 그대로여서 모델 구조로는 해결되지 않는다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4590288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통화 예시 : 오심 양성의 91%(308 / 337)는 오심 관련 표현이 없는 통화</a:t>
            </a:r>
            <a:endParaRPr lang="en-US" sz="1400" dirty="0"/>
          </a:p>
        </p:txBody>
      </p:sp>
      <p:sp>
        <p:nvSpPr>
          <p:cNvPr id="13" name="통화 예시 1"/>
          <p:cNvSpPr txBox="1"/>
          <p:nvPr/>
        </p:nvSpPr>
        <p:spPr>
          <a:xfrm>
            <a:off x="685800" y="4956048"/>
            <a:ext cx="5330952" cy="1234440"/>
          </a:xfrm>
          <a:prstGeom prst="roundRect">
            <a:avLst>
              <a:gd name="adj" fmla="val 5926"/>
            </a:avLst>
          </a:prstGeom>
          <a:solidFill>
            <a:srgbClr val="F2F7FC"/>
          </a:solidFill>
          <a:ln w="12700">
            <a:solidFill>
              <a:srgbClr val="D6E6F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정답 라벨 : 오심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“…갑자기 허리가 너무 아파가지고. 막 식은땀이 나고. 이상해요 얼굴이. 아, 지금 의식은 있죠? …거동하기 힘드신 거죠?”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→ 허리 통증 · 식은땀만 말하고 메스꺼움 · 구토 표현은 없음</a:t>
            </a:r>
            <a:endParaRPr lang="en-US" sz="1200" dirty="0"/>
          </a:p>
        </p:txBody>
      </p:sp>
      <p:sp>
        <p:nvSpPr>
          <p:cNvPr id="14" name="통화 예시 2"/>
          <p:cNvSpPr txBox="1"/>
          <p:nvPr/>
        </p:nvSpPr>
        <p:spPr>
          <a:xfrm>
            <a:off x="6172200" y="4956048"/>
            <a:ext cx="5330952" cy="1234440"/>
          </a:xfrm>
          <a:prstGeom prst="roundRect">
            <a:avLst>
              <a:gd name="adj" fmla="val 5926"/>
            </a:avLst>
          </a:prstGeom>
          <a:solidFill>
            <a:srgbClr val="F2F7FC"/>
          </a:solidFill>
          <a:ln w="12700">
            <a:solidFill>
              <a:srgbClr val="D6E6F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정답 라벨 : 오심 · 복통 · 구토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“…너무 어지럽고, 지금 얼굴이 하얘져가지고요. …걷지도 못할 정도로 앉지도 못하겠다고 하고.”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→ 어지러움 · 창백함만 언급 (발췌 구간에 복통 · 구토 표현 없음)</a:t>
            </a:r>
            <a:endParaRPr lang="en-US" sz="1200" dirty="0"/>
          </a:p>
        </p:txBody>
      </p:sp>
      <p:sp>
        <p:nvSpPr>
          <p:cNvPr id="15" name="각주"/>
          <p:cNvSpPr txBox="1"/>
          <p:nvPr/>
        </p:nvSpPr>
        <p:spPr>
          <a:xfrm>
            <a:off x="685800" y="6272784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정규식 패턴·모델 F1은 Training 표본 기준 · 통화 예시는 오심 양성 중 오심 관련 패턴이 없는 통화에서 2건 발췌 (지명·개인정보 제외) · 처치 후 라벨 부여는 9/19 멘토링 설명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핵심 발견: 라벨 구조가 성능의 상한을 정한다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7개 라벨에서 FN의 85~98%는 대화에 표현이 없고, FP의 상당수는 실제 호소인데 라벨이 없다</a:t>
            </a:r>
            <a:endParaRPr lang="en-US" sz="1600" dirty="0"/>
          </a:p>
        </p:txBody>
      </p:sp>
      <p:sp>
        <p:nvSpPr>
          <p:cNvPr id="6" name="KPI 카드"/>
          <p:cNvSpPr txBox="1"/>
          <p:nvPr/>
        </p:nvSpPr>
        <p:spPr>
          <a:xfrm>
            <a:off x="685800" y="1874520"/>
            <a:ext cx="3453384" cy="1234440"/>
          </a:xfrm>
          <a:prstGeom prst="roundRect">
            <a:avLst>
              <a:gd name="adj" fmla="val 7407"/>
            </a:avLst>
          </a:prstGeom>
          <a:solidFill>
            <a:srgbClr val="284890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94~98%</a:t>
            </a:r>
            <a:endParaRPr lang="en-US" sz="28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FN 중 대화에 표현이 없음 (구토·복통·열상·오심·전신쇠약)</a:t>
            </a:r>
            <a:endParaRPr lang="en-US" sz="2800" dirty="0"/>
          </a:p>
        </p:txBody>
      </p:sp>
      <p:sp>
        <p:nvSpPr>
          <p:cNvPr id="7" name="KPI 카드"/>
          <p:cNvSpPr txBox="1"/>
          <p:nvPr/>
        </p:nvSpPr>
        <p:spPr>
          <a:xfrm>
            <a:off x="4367784" y="1874520"/>
            <a:ext cx="3453384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64~81%</a:t>
            </a:r>
            <a:endParaRPr lang="en-US" sz="28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FP 중 실제 호소 표현이 있음 (호흡곤란 81 · 구토 69 · 두통 64)</a:t>
            </a:r>
            <a:endParaRPr lang="en-US" sz="2800" dirty="0"/>
          </a:p>
        </p:txBody>
      </p:sp>
      <p:sp>
        <p:nvSpPr>
          <p:cNvPr id="8" name="KPI 카드"/>
          <p:cNvSpPr txBox="1"/>
          <p:nvPr/>
        </p:nvSpPr>
        <p:spPr>
          <a:xfrm>
            <a:off x="8049768" y="1874520"/>
            <a:ext cx="3453384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90%</a:t>
            </a:r>
            <a:endParaRPr lang="en-US" sz="28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오심 FP 중 근거 표현이 없음 (전신쇠약 82%)</a:t>
            </a:r>
            <a:endParaRPr lang="en-US" sz="2800" dirty="0"/>
          </a:p>
        </p:txBody>
      </p:sp>
      <p:graphicFrame>
        <p:nvGraphicFramePr>
          <p:cNvPr id="15" name="오류 분석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337560"/>
          <a:ext cx="1081735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297680"/>
                <a:gridCol w="459943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결과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해석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FN 중 표현 없음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구토·복통·열상·오심·전신쇠약 94~98%, 어지러움 88%, 두통 85%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대화에 근거가 없는 라벨이라 텍스트로 맞히기 어려운 데이터 한계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FN 중 표현 없음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고열 71%, 호흡곤란 60%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표현이 있는데 놓친 비율이 상대적으로 높아 모델 개선 여지가 있음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FP 중 표현 있음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호흡곤란 81%, 구토 69%, 두통 64%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부정·질문이 아닌 실제 호소인데 라벨이 누락된 사례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FP 중 표현 없음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오심 90%, 전신쇠약 82%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근거 없이 동반 증상으로 추측해 예측한 사례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각주"/>
          <p:cNvSpPr txBox="1"/>
          <p:nvPr/>
        </p:nvSpPr>
        <p:spPr>
          <a:xfrm>
            <a:off x="685800" y="619963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KLUE posw 3 + none 3 앙상블 기준 · FN: 놓친 증상, FP: 잘못 예측한 증상 · 멘토링: 라벨은 처치 종료 후 부여돼 대화와 어긋날 수 있음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왜 이렇게 구성했나: 선택과 근거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모든 선택은 '서로 다른 오류를 내는 모델을 평균해 하나의 판정선 0.5에 맞춘다'는 논리로 이어진다</a:t>
            </a:r>
            <a:endParaRPr lang="en-US" sz="1600" dirty="0"/>
          </a:p>
        </p:txBody>
      </p:sp>
      <p:graphicFrame>
        <p:nvGraphicFramePr>
          <p:cNvPr id="16" name="선택과 근거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28800"/>
          <a:ext cx="10817352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5577840"/>
                <a:gridCol w="290779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선택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왜 이렇게 했나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근거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백본 2종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(KLUE-RoBERTa, KcELECTRA)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두 모델은 단일 성능이 같아(차이 ≤0.006) 우열이 아니라, 사전학습 방식이 달라 틀리는 샘플이 덜 겹치는 조합으로 선택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KoBERT 대비 +0.030 · 예측 불일치율 11.3% (상관 차이는 작음)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손실 2종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(posw / none)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불균형 라벨에서 none은 precision형, posw는 recall형으로 쏠림 → 반대 방향 오류를 평균해 상쇄하면 0.5 판정선에 맞음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P/R 0.744/0.536 ↔ 0.546/0.722 · 혼합 +0.026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seed 3개 평균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seed마다 달라지는 학습 오차(σ≈0.003)를 평균으로 줄임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+0.006 ~ +0.010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 : 1 동일 가중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두 구성의 점수가 비슷하고, 가중치를 Validation으로 고르면 평가셋에 맞추는 것이 되므로 고정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가중치 탐색 없음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threshold 0.5 고정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규정이므로 라벨별 조정 대신 loss와 앙상블 단계에서 판정선의 성향을 맞춤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규정 사항 (개선 방향 참조)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각주"/>
          <p:cNvSpPr txBox="1"/>
          <p:nvPr/>
        </p:nvSpPr>
        <p:spPr>
          <a:xfrm>
            <a:off x="685800" y="617220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공식 Validation 3,640건 · threshold 0.5 · σ = seed 표준편차의 상한 0.003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최종 모델 구조와 제출 구성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KLUE-RoBERTa(posw)와 KcELECTRA(none)를 seed 3개씩 학습해 동일 가중 평균하면 0.6543이다</a:t>
            </a:r>
            <a:endParaRPr lang="en-US" sz="1600" dirty="0"/>
          </a:p>
        </p:txBody>
      </p:sp>
      <p:sp>
        <p:nvSpPr>
          <p:cNvPr id="6" name="KLUE 구성"/>
          <p:cNvSpPr txBox="1"/>
          <p:nvPr/>
        </p:nvSpPr>
        <p:spPr>
          <a:xfrm>
            <a:off x="685800" y="1874520"/>
            <a:ext cx="6035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77800" tIns="177800" rIns="177800" bIns="1778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KLUE-RoBERTa base × 3 seed</a:t>
            </a:r>
            <a:endParaRPr lang="en-US" sz="12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loss: pos_weight (음성/양성) → recall형</a:t>
            </a:r>
            <a:endParaRPr lang="en-US" sz="12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seed 42 · 123 · 2026 · 110.6M 파라미터</a:t>
            </a:r>
            <a:endParaRPr lang="en-US" sz="1250" dirty="0"/>
          </a:p>
        </p:txBody>
      </p:sp>
      <p:sp>
        <p:nvSpPr>
          <p:cNvPr id="7" name="KcELECTRA 구성"/>
          <p:cNvSpPr txBox="1"/>
          <p:nvPr/>
        </p:nvSpPr>
        <p:spPr>
          <a:xfrm>
            <a:off x="685800" y="3794760"/>
            <a:ext cx="60350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875">
            <a:solidFill>
              <a:srgbClr val="284890"/>
            </a:solidFill>
          </a:ln>
        </p:spPr>
        <p:txBody>
          <a:bodyPr wrap="square" lIns="177800" tIns="177800" rIns="177800" bIns="1778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KcELECTRA-base-v2022 × 3 seed</a:t>
            </a:r>
            <a:endParaRPr lang="en-US" sz="12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loss: pos_weight 없음 → precision형</a:t>
            </a:r>
            <a:endParaRPr lang="en-US" sz="12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seed 42 · 123 · 2026 · 127.8M 파라미터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040880" y="18745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Validation macro-F1</a:t>
            </a:r>
            <a:endParaRPr lang="en-US" sz="1400" dirty="0"/>
          </a:p>
        </p:txBody>
      </p:sp>
      <p:graphicFrame>
        <p:nvGraphicFramePr>
          <p:cNvPr id="17" name="최종 성능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2240280"/>
          <a:ext cx="4462272" cy="914400"/>
        </p:xfrm>
        <a:graphic>
          <a:graphicData uri="http://schemas.openxmlformats.org/drawingml/2006/table">
            <a:tbl>
              <a:tblPr/>
              <a:tblGrid>
                <a:gridCol w="2999232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구성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macro-F1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KLUE posw 3-seed 앙상블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0.6246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KcELECTRA none 3-seed 앙상블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0.6136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최종 (두 백본 1:1 평균)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0.6543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7040880" y="4023360"/>
            <a:ext cx="4462272" cy="1417320"/>
          </a:xfrm>
          <a:prstGeom prst="roundRect">
            <a:avLst>
              <a:gd name="adj" fmla="val 5161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9DD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대안 후보 (미채택)</a:t>
            </a:r>
            <a:endParaRPr lang="en-US" sz="12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KLUE + KcELECTRA + KoELECTRA-v3 (9모델) 0.6569 — 차이 +0.0026은 seed 편차 이내이고 용량이 1.5배(4.0GB)라 채택하지 않음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5577840"/>
            <a:ext cx="10817352" cy="548640"/>
          </a:xfrm>
          <a:prstGeom prst="roundRect">
            <a:avLst>
              <a:gd name="adj" fmla="val 13333"/>
            </a:avLst>
          </a:prstGeom>
          <a:solidFill>
            <a:srgbClr val="284890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백본별 seed 3개 확률 평균 → 두 백본 1:1 평균 → 모든 클래스 threshold 0.5 (가중치·threshold 탐색 없음)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계산 효율성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7억 1,500만 파라미터(모델 6개)로 Validation 3,640건을 167.5초에 추론하고 macro-F1 0.6543을 얻었다</a:t>
            </a:r>
            <a:endParaRPr lang="en-US" sz="1600" dirty="0"/>
          </a:p>
        </p:txBody>
      </p:sp>
      <p:sp>
        <p:nvSpPr>
          <p:cNvPr id="6" name="KPI 카드"/>
          <p:cNvSpPr txBox="1"/>
          <p:nvPr/>
        </p:nvSpPr>
        <p:spPr>
          <a:xfrm>
            <a:off x="685800" y="1828800"/>
            <a:ext cx="2532888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715.2M</a:t>
            </a:r>
            <a:endParaRPr lang="en-US" sz="28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Total 파라미터 (6개 모델)</a:t>
            </a:r>
            <a:endParaRPr lang="en-US" sz="2800" dirty="0"/>
          </a:p>
        </p:txBody>
      </p:sp>
      <p:sp>
        <p:nvSpPr>
          <p:cNvPr id="7" name="KPI 카드"/>
          <p:cNvSpPr txBox="1"/>
          <p:nvPr/>
        </p:nvSpPr>
        <p:spPr>
          <a:xfrm>
            <a:off x="3447288" y="1828800"/>
            <a:ext cx="2532888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715.2M</a:t>
            </a:r>
            <a:endParaRPr lang="en-US" sz="28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Active 파라미터 (100%, dense)</a:t>
            </a:r>
            <a:endParaRPr lang="en-US" sz="2800" dirty="0"/>
          </a:p>
        </p:txBody>
      </p:sp>
      <p:sp>
        <p:nvSpPr>
          <p:cNvPr id="8" name="KPI 카드"/>
          <p:cNvSpPr txBox="1"/>
          <p:nvPr/>
        </p:nvSpPr>
        <p:spPr>
          <a:xfrm>
            <a:off x="6208776" y="1828800"/>
            <a:ext cx="2532888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167.5초</a:t>
            </a:r>
            <a:endParaRPr lang="en-US" sz="28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Validation 전체 추론 (3,640건)</a:t>
            </a:r>
            <a:endParaRPr lang="en-US" sz="2800" dirty="0"/>
          </a:p>
        </p:txBody>
      </p:sp>
      <p:sp>
        <p:nvSpPr>
          <p:cNvPr id="9" name="KPI 카드"/>
          <p:cNvSpPr txBox="1"/>
          <p:nvPr/>
        </p:nvSpPr>
        <p:spPr>
          <a:xfrm>
            <a:off x="8970264" y="1828800"/>
            <a:ext cx="2532888" cy="1097280"/>
          </a:xfrm>
          <a:prstGeom prst="roundRect">
            <a:avLst>
              <a:gd name="adj" fmla="val 8333"/>
            </a:avLst>
          </a:prstGeom>
          <a:solidFill>
            <a:srgbClr val="284890"/>
          </a:solidFill>
          <a:ln w="19050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약 46ms</a:t>
            </a:r>
            <a:endParaRPr lang="en-US" sz="28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샘플당 평균 추론시간 (모델 로딩 포함)</a:t>
            </a:r>
            <a:endParaRPr lang="en-US" sz="2800" dirty="0"/>
          </a:p>
        </p:txBody>
      </p:sp>
      <p:graphicFrame>
        <p:nvGraphicFramePr>
          <p:cNvPr id="18" name="계산 효율성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108960"/>
          <a:ext cx="1081735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16559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항목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내용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학습 환경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Google Colab · Tesla T4 · KcELECTRA: seed당 약 56~60분 / KLUE-RoBERTa: epoch당 약 12.5분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추론 환경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Google Colab · Tesla T4 · fp16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Validation 추론 batch size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32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재현 검증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inference.py macro-F1 0.6543 = 학습 확률 CSV 앙상블 0.6543 · 확률 최대 차이 0.00029 · 판정 변경 0 / 32,760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제출 패키지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가중치 6개 약 2.9GB (optimizer 상태 제거) · requirements.txt · 오프라인 로드 · 빈 예측 78건(2.1%)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각주"/>
          <p:cNvSpPr txBox="1"/>
          <p:nvPr/>
        </p:nvSpPr>
        <p:spPr>
          <a:xfrm>
            <a:off x="685800" y="635508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Active = Total (dense 모델) · 추론시간은 모델 6개 로딩 포함 · KcELECTRA는 라벨 순서가 달라 head를 팀 순서로 재배열한 뒤 검증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개선 방향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threshold 조정은 오심처럼 소극적으로 예측하는 라벨에 효과가 크지만 규정상 적용하지 않았다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2880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라벨별 F1: threshold 0.5 vs 라벨별 최적 threshold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94360" y="2148840"/>
          <a:ext cx="63093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7178040" y="1828800"/>
            <a:ext cx="432511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5875">
            <a:solidFill>
              <a:srgbClr val="009DDA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315200" y="193852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threshold 조정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7315200" y="2304288"/>
            <a:ext cx="4069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오심·전신쇠약은 0.25로 낮추고 복통은 0.80으로 올렸을 때 macro 0.6082 → 0.6268 (+0.019), 증가분의 약 60%가 오심(+0.10). 평가한 분할에서 직접 고른 값이라 낙관적이고, 규정상 0.5 고정이라 미적용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178040" y="3630168"/>
            <a:ext cx="432511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009DDA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315200" y="3739896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임베딩 공간 확인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7315200" y="410565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오심이 다른 증상과 구분되는 군집을 갖는지 임베딩을 시각화해 확인 (멘토 제안, 향후 과제)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178040" y="4745736"/>
            <a:ext cx="432511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875">
            <a:solidFill>
              <a:srgbClr val="009DD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15200" y="4855464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라벨링 데이터 보완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7315200" y="5221224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백본을 바꿔도 같은 loss에서는 최대 0.006 차이 → 병목은 모델이 아니라 데이터 (멘토: 여러 모델이 비슷하면 데이터를 다시 수집)</a:t>
            </a:r>
            <a:endParaRPr lang="en-US" sz="1200" dirty="0"/>
          </a:p>
        </p:txBody>
      </p:sp>
      <p:sp>
        <p:nvSpPr>
          <p:cNvPr id="17" name="각주"/>
          <p:cNvSpPr txBox="1"/>
          <p:nvPr/>
        </p:nvSpPr>
        <p:spPr>
          <a:xfrm>
            <a:off x="685800" y="623620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연서 님 초기 실험(KcELECTRA-base 구버전, Training 8:2 내부 분할)이라 공식 Validation 수치와 직접 비교할 수 없음 · 최종 모델에는 적용하지 않음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06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활용 시나리오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통화 음성에서 화자와 증상을 뽑아 접수 화면에 보조 정보로 보여주는 흐름을 가정했다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74520"/>
            <a:ext cx="2331720" cy="731520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통화 음성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119 신고 통화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044952" y="2240280"/>
            <a:ext cx="219456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3291840" y="1874520"/>
            <a:ext cx="2331720" cy="731520"/>
          </a:xfrm>
          <a:prstGeom prst="roundRect">
            <a:avLst>
              <a:gd name="adj" fmla="val 10000"/>
            </a:avLst>
          </a:prstGeom>
          <a:solidFill>
            <a:srgbClr val="284890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미션 2 · 신고자 / 대원 구분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CE9F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Accuracy 92.64%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650992" y="2240280"/>
            <a:ext cx="219456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</p:sp>
      <p:sp>
        <p:nvSpPr>
          <p:cNvPr id="10" name="Text 7"/>
          <p:cNvSpPr txBox="1"/>
          <p:nvPr/>
        </p:nvSpPr>
        <p:spPr>
          <a:xfrm>
            <a:off x="5897880" y="1874520"/>
            <a:ext cx="2331720" cy="731520"/>
          </a:xfrm>
          <a:prstGeom prst="roundRect">
            <a:avLst>
              <a:gd name="adj" fmla="val 10000"/>
            </a:avLst>
          </a:prstGeom>
          <a:solidFill>
            <a:srgbClr val="284890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미션 1 · 신고자 성별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CE9F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Accuracy 98.21%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788920"/>
            <a:ext cx="2331720" cy="731520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통화 음성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119 신고 통화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044952" y="3154680"/>
            <a:ext cx="219456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3291840" y="2788920"/>
            <a:ext cx="2331720" cy="731520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음성인식 (전사)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대회 범위 밖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650992" y="3154680"/>
            <a:ext cx="219456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</p:sp>
      <p:sp>
        <p:nvSpPr>
          <p:cNvPr id="15" name="Text 12"/>
          <p:cNvSpPr txBox="1"/>
          <p:nvPr/>
        </p:nvSpPr>
        <p:spPr>
          <a:xfrm>
            <a:off x="5897880" y="2788920"/>
            <a:ext cx="2331720" cy="731520"/>
          </a:xfrm>
          <a:prstGeom prst="roundRect">
            <a:avLst>
              <a:gd name="adj" fmla="val 10000"/>
            </a:avLst>
          </a:prstGeom>
          <a:solidFill>
            <a:srgbClr val="284890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미션 3 · 환자 증상 9종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CE9F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macro-F1 0.6543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229600" y="2240280"/>
            <a:ext cx="411480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8229600" y="3154680"/>
            <a:ext cx="411480" cy="0"/>
          </a:xfrm>
          <a:prstGeom prst="line">
            <a:avLst/>
          </a:prstGeom>
          <a:noFill/>
          <a:ln w="25400">
            <a:solidFill>
              <a:srgbClr val="284890"/>
            </a:solidFill>
            <a:prstDash val="solid"/>
            <a:tailEnd type="triangle"/>
          </a:ln>
        </p:spPr>
      </p:sp>
      <p:sp>
        <p:nvSpPr>
          <p:cNvPr id="18" name="Text 15"/>
          <p:cNvSpPr txBox="1"/>
          <p:nvPr/>
        </p:nvSpPr>
        <p:spPr>
          <a:xfrm>
            <a:off x="8686800" y="1874520"/>
            <a:ext cx="2816352" cy="1645920"/>
          </a:xfrm>
          <a:prstGeom prst="roundRect">
            <a:avLst>
              <a:gd name="adj" fmla="val 4444"/>
            </a:avLst>
          </a:prstGeom>
          <a:solidFill>
            <a:srgbClr val="284890"/>
          </a:solidFill>
          <a:ln w="15875">
            <a:solidFill>
              <a:srgbClr val="28489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접수 화면에 보조 표시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DCE9F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→ 출동 대원 · 병원에 사전 공유</a:t>
            </a:r>
            <a:endParaRPr lang="en-US" sz="1250" dirty="0"/>
          </a:p>
        </p:txBody>
      </p:sp>
      <p:graphicFrame>
        <p:nvGraphicFramePr>
          <p:cNvPr id="20" name="활용 시나리오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749040"/>
          <a:ext cx="1081735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583680"/>
                <a:gridCol w="222199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미션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현장에서의 쓸모 (가정)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우리 결과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1. 신고자 성별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접수 기록의 신고자 정보 자동 보완, 신고 특성 통계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Accuracy 98.21%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2. 화자 구분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통화를 대원 / 신고자로 자동 분리해 사후 검토 · 교육 · 요약에 활용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Accuracy 92.64%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3. 증상 인식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대화 속 환자 증상을 화면에 띄워 놓친 질문을 보완하고 출동 대원 · 병원에 사전 공유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macro-F1 0.6543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685800" y="5715000"/>
            <a:ext cx="10817352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875">
            <a:solidFill>
              <a:srgbClr val="009DDA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22960" y="578815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전제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2011680" y="5715000"/>
            <a:ext cx="9354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세 모델 모두 사람을 대체하지 않고 수보요원 · 구급대원의 판단을 돕는 보조 정보로 쓴다</a:t>
            </a:r>
            <a:endParaRPr lang="en-US" sz="1250" dirty="0"/>
          </a:p>
        </p:txBody>
      </p:sp>
      <p:sp>
        <p:nvSpPr>
          <p:cNvPr id="23" name="각주"/>
          <p:cNvSpPr txBox="1"/>
          <p:nvPr/>
        </p:nvSpPr>
        <p:spPr>
          <a:xfrm>
            <a:off x="685800" y="62910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활용 방식은 대회 결과를 바탕으로 한 가정 · 미션 3은 제공된 전사 텍스트로 평가 · 미션 2 Accuracy는 공식 Validation 기준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06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안전하게 쓰기 위한 조건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우리가 찾은 성능의 한계가 곧 현장에서 지켜야 할 조건이다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85800" y="1828800"/>
            <a:ext cx="3453384" cy="4297680"/>
          </a:xfrm>
          <a:prstGeom prst="roundRect">
            <a:avLst>
              <a:gd name="adj" fmla="val 2118"/>
            </a:avLst>
          </a:prstGeom>
          <a:solidFill>
            <a:srgbClr val="FFFFFF"/>
          </a:solidFill>
          <a:ln w="19050">
            <a:solidFill>
              <a:srgbClr val="28489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1984248"/>
            <a:ext cx="3087624" cy="347472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① 사람의 최종 확인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468880"/>
            <a:ext cx="3087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85~98%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044952"/>
            <a:ext cx="3087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7개 라벨에서 놓친 증상 중 대화에 표현이 없는 비율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68680" y="3611880"/>
            <a:ext cx="3087624" cy="0"/>
          </a:xfrm>
          <a:prstGeom prst="line">
            <a:avLst/>
          </a:prstGeom>
          <a:noFill/>
          <a:ln w="12700">
            <a:solidFill>
              <a:srgbClr val="D6E6F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3703320"/>
            <a:ext cx="3087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9DD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근거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증상 인식 macro-F1 0.6543, 오심 F1 0.15~0.38로 텍스트만으로는 한계가 있음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754880"/>
            <a:ext cx="30876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9DD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현장 적용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AI는 증상을 단정하지 않고 '확인할 증상 후보'로만 제시하고, 판단은 수보요원 · 구급대원이 한다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67784" y="1828800"/>
            <a:ext cx="3453384" cy="4297680"/>
          </a:xfrm>
          <a:prstGeom prst="roundRect">
            <a:avLst>
              <a:gd name="adj" fmla="val 2118"/>
            </a:avLst>
          </a:prstGeom>
          <a:solidFill>
            <a:srgbClr val="FFFFFF"/>
          </a:solidFill>
          <a:ln w="19050">
            <a:solidFill>
              <a:srgbClr val="28489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50664" y="1984248"/>
            <a:ext cx="3087624" cy="347472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② 놓침을 줄이는 판정 기준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50664" y="2468880"/>
            <a:ext cx="3087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0.26 → 0.37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4550664" y="3044952"/>
            <a:ext cx="3087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threshold 조정 시 오심 F1 (초기 실험, 참고)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550664" y="3611880"/>
            <a:ext cx="3087624" cy="0"/>
          </a:xfrm>
          <a:prstGeom prst="line">
            <a:avLst/>
          </a:prstGeom>
          <a:noFill/>
          <a:ln w="12700">
            <a:solidFill>
              <a:srgbClr val="D6E6F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50664" y="3703320"/>
            <a:ext cx="3087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9DD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근거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응급에서는 증상을 놓치는 비용이 헛경보보다 크다고 판단 · 대회는 모든 라벨 0.5 고정이라 미적용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550664" y="4754880"/>
            <a:ext cx="30876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9DD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현장 적용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증상별 위험도에 따라 판정선을 따로 정하고, 현장 데이터로 검증한 뒤 적용한다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049768" y="1828800"/>
            <a:ext cx="3453384" cy="4297680"/>
          </a:xfrm>
          <a:prstGeom prst="roundRect">
            <a:avLst>
              <a:gd name="adj" fmla="val 2118"/>
            </a:avLst>
          </a:prstGeom>
          <a:solidFill>
            <a:srgbClr val="FFFFFF"/>
          </a:solidFill>
          <a:ln w="19050">
            <a:solidFill>
              <a:srgbClr val="28489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32648" y="1984248"/>
            <a:ext cx="3087624" cy="347472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③ 데이터 특성 대응과 개인정보 보호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232648" y="2468880"/>
            <a:ext cx="3087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0% vs 97.4%</a:t>
            </a:r>
            <a:endParaRPr lang="en-US" sz="2800" dirty="0"/>
          </a:p>
        </p:txBody>
      </p:sp>
      <p:sp>
        <p:nvSpPr>
          <p:cNvPr id="23" name="Text 20"/>
          <p:cNvSpPr txBox="1"/>
          <p:nvPr/>
        </p:nvSpPr>
        <p:spPr>
          <a:xfrm>
            <a:off x="8232648" y="3044952"/>
            <a:ext cx="3087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비식별화 구간 vs 그 외 구간의 대원 발화 recall (미션 2)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8232648" y="3611880"/>
            <a:ext cx="3087624" cy="0"/>
          </a:xfrm>
          <a:prstGeom prst="line">
            <a:avLst/>
          </a:prstGeom>
          <a:noFill/>
          <a:ln w="12700">
            <a:solidFill>
              <a:srgbClr val="D6E6F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32648" y="3703320"/>
            <a:ext cx="3087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9DD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근거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비식별화 구간은 전체 발화의 약 12% · 미션 3 라벨은 처치 후 부여돼 대화와 어긋남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8232648" y="4754880"/>
            <a:ext cx="30876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9DD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현장 적용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취약 구간은 탐지해 사람 확인으로 넘기고 처치 결과를 환류해 라벨을 개선한다. 통화에는 민감정보가 있어 인터넷 없이 로컬 서버에서 추론한다</a:t>
            </a:r>
            <a:endParaRPr lang="en-US" sz="1200" dirty="0"/>
          </a:p>
        </p:txBody>
      </p:sp>
      <p:sp>
        <p:nvSpPr>
          <p:cNvPr id="27" name="각주"/>
          <p:cNvSpPr txBox="1"/>
          <p:nvPr/>
        </p:nvSpPr>
        <p:spPr>
          <a:xfrm>
            <a:off x="685800" y="623620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85~98%는 미션 3 오류 분석, 0.26 → 0.37은 연서 님 초기 실험(Training 8:2 분할), 0% vs 97.4%는 미션 2 오류 분석 · '놓침이 더 위험'은 판단(가정)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07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한계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세 미션의 병목은 모델이 아니라 데이터에서 나왔다</a:t>
            </a:r>
            <a:endParaRPr lang="en-US" sz="1600" dirty="0"/>
          </a:p>
        </p:txBody>
      </p:sp>
      <p:graphicFrame>
        <p:nvGraphicFramePr>
          <p:cNvPr id="22" name="병목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28800"/>
          <a:ext cx="1081735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468880"/>
                <a:gridCol w="4754880"/>
                <a:gridCol w="277063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미션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병목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근거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우리가 한 일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라벨 오류가 의심되는 확신 오답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오답 65통화 중 14통화는 모델이 확신하고 틀림 · 청취한 통화에서 라벨과 목소리 불일치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규정상 제거하지 않고 원인만 분석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개인정보 비식별화 구간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전체 발화의 약 12%, 이 구간 대원 recall 0% · 제외하면 92.64% → 97.07% (분석용 재계산)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가설 3개를 순서대로 검증해 원인 확정, 제출은 모든 발화를 예측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처치 후 부여되는 라벨이 대화와 어긋남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7개 라벨에서 놓친 증상의 85~98%는 대화에 표현 없음 · 오심은 정규식 패턴 F1 0.142 ≈ 모델 0.184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라벨 수정 불가라 주어진 라벨로 개발하고 원인 분석, threshold 0.5 고정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85800" y="466344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공통 한계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5029200"/>
            <a:ext cx="2567178" cy="1143000"/>
          </a:xfrm>
          <a:prstGeom prst="roundRect">
            <a:avLst>
              <a:gd name="adj" fmla="val 6400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평가 방식</a:t>
            </a:r>
            <a:endParaRPr lang="en-US" sz="125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모델 구성 선택에 공식 Validation을 사용해 비공개 평가에서는 수치가 달라질 수 있고, seed 3개라 검정력도 낮음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3435858" y="5029200"/>
            <a:ext cx="2567178" cy="1143000"/>
          </a:xfrm>
          <a:prstGeom prst="roundRect">
            <a:avLst>
              <a:gd name="adj" fmla="val 6400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입력 범위</a:t>
            </a:r>
            <a:endParaRPr lang="en-US" sz="125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제공된 전사로만 평가해 음성인식 오류가 섞인 실제 입력은 검증하지 못함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6185916" y="5029200"/>
            <a:ext cx="2567178" cy="1143000"/>
          </a:xfrm>
          <a:prstGeom prst="roundRect">
            <a:avLst>
              <a:gd name="adj" fmla="val 6400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일반화</a:t>
            </a:r>
            <a:endParaRPr lang="en-US" sz="125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AI-Hub 119 단일 데이터로만 검증해 다른 지역 · 상황은 미확인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8935974" y="5029200"/>
            <a:ext cx="2567178" cy="1143000"/>
          </a:xfrm>
          <a:prstGeom prst="roundRect">
            <a:avLst>
              <a:gd name="adj" fmla="val 6400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모델 규모</a:t>
            </a:r>
            <a:endParaRPr lang="en-US" sz="125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미션 3은 모델 6개(715.2M)로 구성돼 경량화 여지가 있음</a:t>
            </a:r>
            <a:endParaRPr lang="en-US" sz="1250" dirty="0"/>
          </a:p>
        </p:txBody>
      </p:sp>
      <p:sp>
        <p:nvSpPr>
          <p:cNvPr id="12" name="각주"/>
          <p:cNvSpPr txBox="1"/>
          <p:nvPr/>
        </p:nvSpPr>
        <p:spPr>
          <a:xfrm>
            <a:off x="685800" y="62910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미션 1·2 수치는 팀 PPT 해당 장 기준 · 미션 2의 97.07%는 원인 규명을 위한 분석용 재계산으로 대회 수치가 아님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07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향후 과제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병목이 데이터에 있으므로 우선순위도 데이터 → 판정 기준 → 실제 환경 순서이다</a:t>
            </a:r>
            <a:endParaRPr lang="en-US" sz="1600" dirty="0"/>
          </a:p>
        </p:txBody>
      </p:sp>
      <p:graphicFrame>
        <p:nvGraphicFramePr>
          <p:cNvPr id="23" name="향후 과제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28800"/>
          <a:ext cx="1081735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377440"/>
                <a:gridCol w="4023360"/>
                <a:gridCol w="368503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순서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과제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왜 필요한가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방법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라벨 · 데이터 품질 개선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세 미션의 병목이 모두 데이터이고, 여러 모델이 비슷하면 데이터를 다시 보는 것이 순서 (멘토링)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라벨 정의 점검, 의심 통화 재검수, 처치 결과 환류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비용을 반영한 판정 기준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응급에서는 놓침이 더 위험한데 현재는 모든 라벨 0.5 고정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증상별 threshold · 비용 민감 학습을 규정이 허용되는 환경에서 검증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취약 라벨 원인 확인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오심은 어떤 모델에서도 F1 0.15~0.38에 머묾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임베딩을 시각화해 오심이 다른 증상과 구분되는 군집이 있는지 확인 (멘토 제안)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4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비식별화 구간 대응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이 구간에서 대원 발화가 거의 전부 신고자로 오판됨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구간을 탐지해 판정 보류 또는 별도 처리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5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실제 환경 평가와 경량화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음성인식 오류 · 통화 중 부분 전사 · 모델 크기가 서비스 조건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STT 포함 end-to-end 평가 · seed · 신뢰구간 확대 · 지식 증류 · LLM 증상 추출(근거 문장 제시)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85800" y="5715000"/>
            <a:ext cx="10817352" cy="566928"/>
          </a:xfrm>
          <a:prstGeom prst="roundRect">
            <a:avLst>
              <a:gd name="adj" fmla="val 12903"/>
            </a:avLst>
          </a:prstGeom>
          <a:solidFill>
            <a:srgbClr val="284890"/>
          </a:solidFill>
          <a:ln w="15875">
            <a:solidFill>
              <a:srgbClr val="28489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22960" y="583387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맺음말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2011680" y="5715000"/>
            <a:ext cx="9354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성능 수치뿐 아니라 그 수치가 왜 나왔는지까지 분석한 결과, 다음 개선의 출발점은 모델이 아니라 데이터였다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부록 A1. 비교 조건과 학습 설정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백본 비교에 쓴 공통 조건과 최종 두 모델의 학습 설정이다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288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비교 조건 통일 6가지</a:t>
            </a:r>
            <a:endParaRPr lang="en-US" sz="1400" dirty="0"/>
          </a:p>
        </p:txBody>
      </p:sp>
      <p:graphicFrame>
        <p:nvGraphicFramePr>
          <p:cNvPr id="24" name="통일 항목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194560"/>
          <a:ext cx="5943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5720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항목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통일 내용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split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공식 Training 29,200 학습 / 공식 Validation 3,640 평가·best epoch 선택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입력 텍스트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startAt 순 정렬 → text만 공백 연결 (화자 태그 없음)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라벨 인코딩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공식 9개, 순서 고정: 고열·구토·두통·복통·어지러움·열상·오심·전신쇠약·호흡곤란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평가 함수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macro-F1 (best epoch 기준도 macro-F1), threshold 0.5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seed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42 · 123 · 2026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확률 저장 형식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call_id, prob_{라벨}×9, true_{라벨}×9, 통화당 1행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903720" y="18288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최종 두 모델의 학습 설정</a:t>
            </a:r>
            <a:endParaRPr lang="en-US" sz="1400" dirty="0"/>
          </a:p>
        </p:txBody>
      </p:sp>
      <p:graphicFrame>
        <p:nvGraphicFramePr>
          <p:cNvPr id="47" name="학습 설정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2194560"/>
          <a:ext cx="459943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011680"/>
                <a:gridCol w="135331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항목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KLUE-RoBERTa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KcELECTRA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파라미터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110.6M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127.8M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분류 head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mean pooling + MLP (768→256→9)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HF 기본 분류 head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loss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pos_weight (음성/양성)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pos_weight 없음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학습률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2e-5 (head 1e-3)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3e-5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batch · 정밀도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16 · fp16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16 · fp16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epoch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best epoch 선택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5 (best epoch 선택)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각주"/>
          <p:cNvSpPr txBox="1"/>
          <p:nvPr/>
        </p:nvSpPr>
        <p:spPr>
          <a:xfrm>
            <a:off x="685800" y="62179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모든 학습은 공식 Training으로만 수행하고 Validation은 평가와 best epoch 선택에만 사용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부록 A2. 클래스 분포와 입력 길이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pos_weight의 계산 근거와 입력 길이를 512토큰으로 정한 근거이다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2880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Training 양성 수와 pos_weight</a:t>
            </a:r>
            <a:endParaRPr lang="en-US" sz="1400" dirty="0"/>
          </a:p>
        </p:txBody>
      </p:sp>
      <p:graphicFrame>
        <p:nvGraphicFramePr>
          <p:cNvPr id="25" name="클래스 분포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194560"/>
          <a:ext cx="51206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21945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라벨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양성 수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pos_weight (음성/양성)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복통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6,771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3.31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어지러움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6,334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3.61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전신쇠약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5,310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4.50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고열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5,186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4.63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구토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4,463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5.54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호흡곤란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3,927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6.44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열상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3,465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7.43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오심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3,341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7.74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두통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2,905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9.05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263640" y="182880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토큰 길이 분포 (토크나이저별)</a:t>
            </a:r>
            <a:endParaRPr lang="en-US" sz="1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172200" y="2148840"/>
          <a:ext cx="534924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6263640" y="466344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512토큰을 넘는 통화는 0.4~2.7%뿐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증상 라벨 첫 언급의 97.3%가 256토큰 이내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256토큰 실험 0.6137 &lt; 512토큰 0.6177 → 512 유지 (KLUE posw, seed 42)</a:t>
            </a:r>
            <a:endParaRPr lang="en-US" sz="1200" dirty="0"/>
          </a:p>
        </p:txBody>
      </p:sp>
      <p:sp>
        <p:nvSpPr>
          <p:cNvPr id="11" name="각주"/>
          <p:cNvSpPr txBox="1"/>
          <p:nvPr/>
        </p:nvSpPr>
        <p:spPr>
          <a:xfrm>
            <a:off x="685800" y="62179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공식 Training 29,200건 기준 · 한 통화에 여러 증상이 있을 수 있어 양성 비율의 합은 100%를 넘음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부록 A3. seed 안정성과 학습 곡선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seed 편차(표준편차)는 0.0015~0.0031이고, seed 3개 확률 평균으로 +0.006~+0.010을 얻었다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2880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seed별 macro-F1과 3-seed 확률 평균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94360" y="2148840"/>
          <a:ext cx="64008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7269480" y="1874520"/>
            <a:ext cx="423367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875">
            <a:solidFill>
              <a:srgbClr val="009DDA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406640" y="198424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seed 편차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7406640" y="233172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표준편차 KLUE posw 0.0031, KcELECTRA none 0.0015 → 0.003 이하의 차이는 우열로 해석하지 않음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269480" y="3337560"/>
            <a:ext cx="423367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875">
            <a:solidFill>
              <a:srgbClr val="009DDA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406640" y="344728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seed 평균 효과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7406640" y="379476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3개 확률을 평균하면 KLUE +0.010, KcELECTRA +0.006 (같은 모델끼리도 향상)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269480" y="4800600"/>
            <a:ext cx="423367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875">
            <a:solidFill>
              <a:srgbClr val="009DD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406640" y="49103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학습 곡선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7406640" y="525780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KLUE는 epoch 2~4 이후 train loss는 줄지만 F1은 하락 → best epoch 선택 필수 · KcELECTRA none은 best epoch이 5/5로 상한에서 종료</a:t>
            </a:r>
            <a:endParaRPr lang="en-US" sz="1250" dirty="0"/>
          </a:p>
        </p:txBody>
      </p:sp>
      <p:sp>
        <p:nvSpPr>
          <p:cNvPr id="17" name="각주"/>
          <p:cNvSpPr txBox="1"/>
          <p:nvPr/>
        </p:nvSpPr>
        <p:spPr>
          <a:xfrm>
            <a:off x="685800" y="6272784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공식 Validation 3,640건 · threshold 0.5 · 표준편차는 표본 표준편차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부록 A4. 세부 설계 실험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pooling·길이·모델 크기·보조 라벨·후처리는 효과가 없거나 작아서 채택하지 않았다</a:t>
            </a:r>
            <a:endParaRPr lang="en-US" sz="1600" dirty="0"/>
          </a:p>
        </p:txBody>
      </p:sp>
      <p:graphicFrame>
        <p:nvGraphicFramePr>
          <p:cNvPr id="27" name="세부 실험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74520"/>
          <a:ext cx="6858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783080"/>
                <a:gridCol w="1828800"/>
                <a:gridCol w="17830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시도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가설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결과 (macro-F1)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결정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Attention pooling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증상 언급 구간에 집중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0.6378 (mean 0.6405)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mean pooling 유지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roberta-large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모델 용량 확대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posw에서 base 대비 개선 없음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제외 (비용 대비 효과 부족)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max_length 256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뒤쪽 동반 증상 제거로 FP 감소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0.6137 (512: 0.6177)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512 유지 (학습시간만 40% 단축)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보조 라벨 5개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기타·기타통증 등으로 표현 학습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3-seed 0.6424 (KLUE 0.6427)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미채택 (성능 동일)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빈 예측 top-1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모든 라벨 &lt; 0.5이면 1개 출력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macro +0.0012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미적용 (효과 작고 해석 불명확)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7818120" y="18288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기준 대비 Δ macro-F1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726680" y="2148840"/>
          <a:ext cx="38404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4"/>
          <p:cNvSpPr txBox="1"/>
          <p:nvPr/>
        </p:nvSpPr>
        <p:spPr>
          <a:xfrm>
            <a:off x="7818120" y="5029200"/>
            <a:ext cx="3685032" cy="777240"/>
          </a:xfrm>
          <a:prstGeom prst="roundRect">
            <a:avLst>
              <a:gd name="adj" fmla="val 9412"/>
            </a:avLst>
          </a:prstGeom>
          <a:solidFill>
            <a:srgbClr val="F2F7FC"/>
          </a:solidFill>
          <a:ln w="15875">
            <a:solidFill>
              <a:srgbClr val="D6E6F5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변화 폭이 −0.004 ~ +0.001로, seed 편차(±0.003) 범위 안</a:t>
            </a:r>
            <a:endParaRPr lang="en-US" sz="1250" dirty="0"/>
          </a:p>
        </p:txBody>
      </p:sp>
      <p:sp>
        <p:nvSpPr>
          <p:cNvPr id="10" name="각주"/>
          <p:cNvSpPr txBox="1"/>
          <p:nvPr/>
        </p:nvSpPr>
        <p:spPr>
          <a:xfrm>
            <a:off x="685800" y="59893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Attention·256 실험은 나현(seed 42), 보조 라벨은 연서(3-seed), top-1 후처리는 규현 · roberta-large는 수치 미표기(개선 없음)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부록 A5. 전체 실험 로그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공식 Validation 3,640건 · threshold 0.5 기준의 모든 비교 실험 (sqrt·보조 라벨은 참고)</a:t>
            </a:r>
            <a:endParaRPr lang="en-US" sz="1600" dirty="0"/>
          </a:p>
        </p:txBody>
      </p:sp>
      <p:graphicFrame>
        <p:nvGraphicFramePr>
          <p:cNvPr id="28" name="전체 실험 로그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28800"/>
          <a:ext cx="10817352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731520"/>
                <a:gridCol w="1051560"/>
                <a:gridCol w="1051560"/>
                <a:gridCol w="1097280"/>
                <a:gridCol w="2011680"/>
                <a:gridCol w="130759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구성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담당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seed 42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seed 123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seed 2026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평균 ± 표준편차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3-seed 앙상블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KoBERT posw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나현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0.5880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-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-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-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-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KLUE none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나현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0.6118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0.6082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0.6124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0.6108 ± 0.0023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0.6173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KLUE posw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나현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0.6177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0.6140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0.6115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0.6144 ± 0.0031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0.6246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KLUE sqrt (참고)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나현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0.6405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0.6415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0.6459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0.6427 ± 0.0029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0.6514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KcELECTRA-v2022 none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규현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0.6083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0.6082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0.6056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0.6074 ± 0.0015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0.6136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KcELECTRA-v2022 sqrt (참고)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규현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0.6428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0.6398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0.6463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0.6430 ± 0.0033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0.6507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KoELECTRA-v3 sqrt (참고)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연서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-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-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-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0.6374 (평균)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0.6497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최종: KLUE posw 3 + KcELECTRA none 3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0.6543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KLUE posw 3 + KLUE none 3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나현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-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-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-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-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0.6504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sqrt 6모델 (KLUE + KcELECTRA-v2022)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규현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-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-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-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-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0.6558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후보 A: 3개 백본 9모델 (sqrt)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연서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-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-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-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-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0.6569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각주"/>
          <p:cNvSpPr txBox="1"/>
          <p:nvPr/>
        </p:nvSpPr>
        <p:spPr>
          <a:xfrm>
            <a:off x="685800" y="623620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회색: 규정 해석 여지로 최종 구성에서 제외한 참고 수치 · KoELECTRA-v3·KcELECTRA 구버전은 seed별 값 미수집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 txBox="1"/>
          <p:nvPr/>
        </p:nvSpPr>
        <p:spPr>
          <a:xfrm>
            <a:off x="685800" y="713232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417320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489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부록 A6. 비교에서 제외한 수치와 기준</a:t>
            </a:r>
            <a:endParaRPr lang="en-US" sz="2800" dirty="0"/>
          </a:p>
        </p:txBody>
      </p:sp>
      <p:sp>
        <p:nvSpPr>
          <p:cNvPr id="4" name="핵심 문장"/>
          <p:cNvSpPr txBox="1"/>
          <p:nvPr/>
        </p:nvSpPr>
        <p:spPr>
          <a:xfrm>
            <a:off x="685800" y="12801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규정과 어긋나거나 평가 조건이 다른 수치는 본문 비교에서 제외했다</a:t>
            </a:r>
            <a:endParaRPr lang="en-US" sz="1600" dirty="0"/>
          </a:p>
        </p:txBody>
      </p:sp>
      <p:graphicFrame>
        <p:nvGraphicFramePr>
          <p:cNvPr id="29" name="제외 수치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74520"/>
          <a:ext cx="1081735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389120"/>
                <a:gridCol w="377647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구분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내용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처리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클래스별 threshold 최적화 수치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예: KcELECTRA 0.6268 (threshold 0.5에서는 0.6082)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0.5 고정 규정에 어긋나 비교에서 제외 (효과는 개선 방향 슬라이드에서 설명)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탐색기(~9/23) 초기 수치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팀원별로 split·평가 기준이 달랐음 (내부 8:2 분할 등)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공식 Training/Validation 기준으로 다시 측정한 값만 사용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진호 실험 (KLUE 마지막 3층, 0.52~0.53)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json 62,362건(증상 없음 53% 포함)으로 학습·평가해 공식 29,200 / 3,640과 데이터 정의가 다름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참고용으로만 두고 본문 비교에서 제외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8489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규정 해석이 필요한 구성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sqrt pos_weight (단일 최고 0.6405~0.6459)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최종 제출 구성에서 제외하고 참고 수치로만 표기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88900" marR="889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85800" y="5897880"/>
            <a:ext cx="10817352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009DDA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22960" y="598474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원칙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2011680" y="5897880"/>
            <a:ext cx="9354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모든 비교는 공식 Validation 3,640건 · threshold 0.5 · 동일 입력 구성으로 측정한 값만 사용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C8"/>
                </a:solidFill>
                <a:latin typeface="NanumGothic"/>
                <a:ea typeface="NanumGothic"/>
                <a:cs typeface="NanumGothic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CC Mission3">
  <a:themeElements>
    <a:clrScheme name="DCC Mission3">
      <a:dk1>
        <a:srgbClr val="333333"/>
      </a:dk1>
      <a:lt1>
        <a:srgbClr val="FFFFFF"/>
      </a:lt1>
      <a:dk2>
        <a:srgbClr val="284890"/>
      </a:dk2>
      <a:lt2>
        <a:srgbClr val="D6E6F5"/>
      </a:lt2>
      <a:accent1>
        <a:srgbClr val="009DDA"/>
      </a:accent1>
      <a:accent2>
        <a:srgbClr val="284890"/>
      </a:accent2>
      <a:accent3>
        <a:srgbClr val="A9BFE2"/>
      </a:accent3>
      <a:accent4>
        <a:srgbClr val="7F9CCB"/>
      </a:accent4>
      <a:accent5>
        <a:srgbClr val="E8832A"/>
      </a:accent5>
      <a:accent6>
        <a:srgbClr val="666666"/>
      </a:accent6>
      <a:hlink>
        <a:srgbClr val="009DDA"/>
      </a:hlink>
      <a:folHlink>
        <a:srgbClr val="284890"/>
      </a:folHlink>
    </a:clrScheme>
    <a:fontScheme name="DCC Mission3">
      <a:majorFont>
        <a:latin typeface="Nanum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데이트릭스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미션 3. 환자 증상 인식 / 사회 안전 시사점 / 한계 및 향후 과제</dc:title>
  <dc:subject>2026 데이터+AI 크리에이터 캠프 대학부</dc:subject>
  <dc:creator>데이트릭스</dc:creator>
  <cp:lastModifiedBy>데이트릭스</cp:lastModifiedBy>
  <cp:revision>1</cp:revision>
  <dcterms:created xsi:type="dcterms:W3CDTF">2026-10-11T09:15:21Z</dcterms:created>
  <dcterms:modified xsi:type="dcterms:W3CDTF">2026-10-11T09:15:21Z</dcterms:modified>
</cp:coreProperties>
</file>